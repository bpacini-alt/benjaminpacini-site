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893fd377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g2893fd3772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893fd37727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893fd37727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893fd37727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893fd37727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893fd37727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893fd37727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893fd37727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893fd37727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solidFill>
                  <a:schemeClr val="dk1"/>
                </a:solidFill>
              </a:rPr>
              <a:t>* On net. If you include tradeoffs, these could even be negative. CSR is great if you can hold teacher quality constant, but you can’t. Same with Praxis. Praxis is worse for teachers of color.</a:t>
            </a:r>
            <a:endParaRPr>
              <a:solidFill>
                <a:schemeClr val="dk1"/>
              </a:solidFill>
            </a:endParaRPr>
          </a:p>
          <a:p>
            <a:pPr indent="-298450" lvl="0" marL="457200" rtl="0" algn="l">
              <a:spcBef>
                <a:spcPts val="0"/>
              </a:spcBef>
              <a:spcAft>
                <a:spcPts val="0"/>
              </a:spcAft>
              <a:buSzPts val="1100"/>
              <a:buChar char="●"/>
            </a:pPr>
            <a:r>
              <a:rPr lang="en">
                <a:solidFill>
                  <a:schemeClr val="dk1"/>
                </a:solidFill>
              </a:rPr>
              <a:t>** You have to define it. Bake sales ain’t it.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893fd37727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893fd37727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On net. If you include tradeoffs, these could even be negative. CSR is great if you can hold teacher quality constant, but you can’t. Same with Praxis. Praxis is worse for teachers of color.</a:t>
            </a:r>
            <a:endParaRPr/>
          </a:p>
          <a:p>
            <a:pPr indent="0" lvl="0" marL="0" rtl="0" algn="l">
              <a:spcBef>
                <a:spcPts val="0"/>
              </a:spcBef>
              <a:spcAft>
                <a:spcPts val="0"/>
              </a:spcAft>
              <a:buNone/>
            </a:pPr>
            <a:r>
              <a:rPr lang="en"/>
              <a:t>** You have to define it. Bake sales ain’t it. </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893fd37727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893fd37727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With tradeoffs. CSR is great if you can hold teacher quality constant, but you can’t. Same with Praxis.</a:t>
            </a:r>
            <a:endParaRPr/>
          </a:p>
          <a:p>
            <a:pPr indent="0" lvl="0" marL="0" rtl="0" algn="l">
              <a:spcBef>
                <a:spcPts val="0"/>
              </a:spcBef>
              <a:spcAft>
                <a:spcPts val="0"/>
              </a:spcAft>
              <a:buNone/>
            </a:pPr>
            <a:r>
              <a:rPr lang="en"/>
              <a:t>*** My take. I know the research, and this is admittedly somewhat my view. (School funding must be very carefully done, and be a perfect storm to work. Teacher pay works better when merit pay. Many evaluations actually measure praxis completion, which doesn’t work. Actual student achievement data in my view is quite weak. Curriculum–when you remove phonics and vocabulary–becomes pretty inconsequential. Yes, good curricula is out there, but choosing this-or-that textbook doesn’t matter when teachers can pick their own books.)</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541fa551e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541fa551e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541fa551e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541fa551e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541fa551e0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541fa551e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541fa551e0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541fa551e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0" name="Shape 50"/>
        <p:cNvGrpSpPr/>
        <p:nvPr/>
      </p:nvGrpSpPr>
      <p:grpSpPr>
        <a:xfrm>
          <a:off x="0" y="0"/>
          <a:ext cx="0" cy="0"/>
          <a:chOff x="0" y="0"/>
          <a:chExt cx="0" cy="0"/>
        </a:xfrm>
      </p:grpSpPr>
      <p:sp>
        <p:nvSpPr>
          <p:cNvPr id="51" name="Google Shape;51;p13"/>
          <p:cNvSpPr txBox="1"/>
          <p:nvPr>
            <p:ph type="title"/>
          </p:nvPr>
        </p:nvSpPr>
        <p:spPr>
          <a:xfrm>
            <a:off x="1511302" y="1314455"/>
            <a:ext cx="6119100" cy="1366800"/>
          </a:xfrm>
          <a:prstGeom prst="rect">
            <a:avLst/>
          </a:prstGeom>
          <a:noFill/>
          <a:ln>
            <a:noFill/>
          </a:ln>
        </p:spPr>
        <p:txBody>
          <a:bodyPr anchorCtr="0" anchor="b" bIns="34275" lIns="68575" spcFirstLastPara="1" rIns="68575" wrap="square" tIns="34275">
            <a:normAutofit/>
          </a:bodyPr>
          <a:lstStyle>
            <a:lvl1pPr lvl="0" rtl="0" algn="ctr">
              <a:spcBef>
                <a:spcPts val="0"/>
              </a:spcBef>
              <a:spcAft>
                <a:spcPts val="0"/>
              </a:spcAft>
              <a:buClr>
                <a:srgbClr val="262626"/>
              </a:buClr>
              <a:buSzPts val="3300"/>
              <a:buFont typeface="Garamond"/>
              <a:buNone/>
              <a:defRPr b="0" sz="3300" cap="none"/>
            </a:lvl1pPr>
            <a:lvl2pPr lvl="1" rtl="0" algn="l">
              <a:spcBef>
                <a:spcPts val="0"/>
              </a:spcBef>
              <a:spcAft>
                <a:spcPts val="0"/>
              </a:spcAft>
              <a:buSzPts val="2800"/>
              <a:buNone/>
              <a:defRPr/>
            </a:lvl2pPr>
            <a:lvl3pPr lvl="2" rtl="0" algn="l">
              <a:spcBef>
                <a:spcPts val="0"/>
              </a:spcBef>
              <a:spcAft>
                <a:spcPts val="0"/>
              </a:spcAft>
              <a:buSzPts val="2800"/>
              <a:buNone/>
              <a:defRPr/>
            </a:lvl3pPr>
            <a:lvl4pPr lvl="3" rtl="0" algn="l">
              <a:spcBef>
                <a:spcPts val="0"/>
              </a:spcBef>
              <a:spcAft>
                <a:spcPts val="0"/>
              </a:spcAft>
              <a:buSzPts val="2800"/>
              <a:buNone/>
              <a:defRPr/>
            </a:lvl4pPr>
            <a:lvl5pPr lvl="4" rtl="0" algn="l">
              <a:spcBef>
                <a:spcPts val="0"/>
              </a:spcBef>
              <a:spcAft>
                <a:spcPts val="0"/>
              </a:spcAft>
              <a:buSzPts val="2800"/>
              <a:buNone/>
              <a:defRPr/>
            </a:lvl5pPr>
            <a:lvl6pPr lvl="5" rtl="0" algn="l">
              <a:spcBef>
                <a:spcPts val="0"/>
              </a:spcBef>
              <a:spcAft>
                <a:spcPts val="0"/>
              </a:spcAft>
              <a:buSzPts val="2800"/>
              <a:buNone/>
              <a:defRPr/>
            </a:lvl6pPr>
            <a:lvl7pPr lvl="6" rtl="0" algn="l">
              <a:spcBef>
                <a:spcPts val="0"/>
              </a:spcBef>
              <a:spcAft>
                <a:spcPts val="0"/>
              </a:spcAft>
              <a:buSzPts val="2800"/>
              <a:buNone/>
              <a:defRPr/>
            </a:lvl7pPr>
            <a:lvl8pPr lvl="7" rtl="0" algn="l">
              <a:spcBef>
                <a:spcPts val="0"/>
              </a:spcBef>
              <a:spcAft>
                <a:spcPts val="0"/>
              </a:spcAft>
              <a:buSzPts val="2800"/>
              <a:buNone/>
              <a:defRPr/>
            </a:lvl8pPr>
            <a:lvl9pPr lvl="8" rtl="0" algn="l">
              <a:spcBef>
                <a:spcPts val="0"/>
              </a:spcBef>
              <a:spcAft>
                <a:spcPts val="0"/>
              </a:spcAft>
              <a:buSzPts val="2800"/>
              <a:buNone/>
              <a:defRPr/>
            </a:lvl9pPr>
          </a:lstStyle>
          <a:p/>
        </p:txBody>
      </p:sp>
      <p:sp>
        <p:nvSpPr>
          <p:cNvPr id="52" name="Google Shape;52;p13"/>
          <p:cNvSpPr txBox="1"/>
          <p:nvPr>
            <p:ph idx="1" type="body"/>
          </p:nvPr>
        </p:nvSpPr>
        <p:spPr>
          <a:xfrm>
            <a:off x="1511300" y="2884538"/>
            <a:ext cx="6119100" cy="715800"/>
          </a:xfrm>
          <a:prstGeom prst="rect">
            <a:avLst/>
          </a:prstGeom>
          <a:noFill/>
          <a:ln>
            <a:noFill/>
          </a:ln>
        </p:spPr>
        <p:txBody>
          <a:bodyPr anchorCtr="0" anchor="t" bIns="34275" lIns="68575" spcFirstLastPara="1" rIns="68575" wrap="square" tIns="34275">
            <a:normAutofit/>
          </a:bodyPr>
          <a:lstStyle>
            <a:lvl1pPr indent="-228600" lvl="0" marL="457200" rtl="0" algn="ctr">
              <a:spcBef>
                <a:spcPts val="400"/>
              </a:spcBef>
              <a:spcAft>
                <a:spcPts val="0"/>
              </a:spcAft>
              <a:buSzPts val="2100"/>
              <a:buNone/>
              <a:defRPr sz="1800">
                <a:solidFill>
                  <a:schemeClr val="dk1"/>
                </a:solidFill>
              </a:defRPr>
            </a:lvl1pPr>
            <a:lvl2pPr indent="-228600" lvl="1" marL="914400" rtl="0" algn="l">
              <a:spcBef>
                <a:spcPts val="500"/>
              </a:spcBef>
              <a:spcAft>
                <a:spcPts val="0"/>
              </a:spcAft>
              <a:buSzPts val="1600"/>
              <a:buNone/>
              <a:defRPr sz="1400">
                <a:solidFill>
                  <a:srgbClr val="888888"/>
                </a:solidFill>
              </a:defRPr>
            </a:lvl2pPr>
            <a:lvl3pPr indent="-228600" lvl="2" marL="1371600" rtl="0" algn="l">
              <a:spcBef>
                <a:spcPts val="500"/>
              </a:spcBef>
              <a:spcAft>
                <a:spcPts val="0"/>
              </a:spcAft>
              <a:buSzPts val="1400"/>
              <a:buNone/>
              <a:defRPr sz="1200">
                <a:solidFill>
                  <a:srgbClr val="888888"/>
                </a:solidFill>
              </a:defRPr>
            </a:lvl3pPr>
            <a:lvl4pPr indent="-228600" lvl="3" marL="1828800" rtl="0" algn="l">
              <a:spcBef>
                <a:spcPts val="500"/>
              </a:spcBef>
              <a:spcAft>
                <a:spcPts val="0"/>
              </a:spcAft>
              <a:buSzPts val="1200"/>
              <a:buNone/>
              <a:defRPr sz="1100">
                <a:solidFill>
                  <a:srgbClr val="888888"/>
                </a:solidFill>
              </a:defRPr>
            </a:lvl4pPr>
            <a:lvl5pPr indent="-228600" lvl="4" marL="2286000" rtl="0" algn="l">
              <a:spcBef>
                <a:spcPts val="500"/>
              </a:spcBef>
              <a:spcAft>
                <a:spcPts val="0"/>
              </a:spcAft>
              <a:buSzPts val="1200"/>
              <a:buNone/>
              <a:defRPr sz="1100">
                <a:solidFill>
                  <a:srgbClr val="888888"/>
                </a:solidFill>
              </a:defRPr>
            </a:lvl5pPr>
            <a:lvl6pPr indent="-228600" lvl="5" marL="2743200" rtl="0" algn="l">
              <a:spcBef>
                <a:spcPts val="500"/>
              </a:spcBef>
              <a:spcAft>
                <a:spcPts val="0"/>
              </a:spcAft>
              <a:buSzPts val="1200"/>
              <a:buNone/>
              <a:defRPr sz="1100">
                <a:solidFill>
                  <a:srgbClr val="888888"/>
                </a:solidFill>
              </a:defRPr>
            </a:lvl6pPr>
            <a:lvl7pPr indent="-228600" lvl="6" marL="3200400" rtl="0" algn="l">
              <a:spcBef>
                <a:spcPts val="500"/>
              </a:spcBef>
              <a:spcAft>
                <a:spcPts val="0"/>
              </a:spcAft>
              <a:buSzPts val="1200"/>
              <a:buNone/>
              <a:defRPr sz="1100">
                <a:solidFill>
                  <a:srgbClr val="888888"/>
                </a:solidFill>
              </a:defRPr>
            </a:lvl7pPr>
            <a:lvl8pPr indent="-228600" lvl="7" marL="3657600" rtl="0" algn="l">
              <a:spcBef>
                <a:spcPts val="500"/>
              </a:spcBef>
              <a:spcAft>
                <a:spcPts val="0"/>
              </a:spcAft>
              <a:buSzPts val="1200"/>
              <a:buNone/>
              <a:defRPr sz="1100">
                <a:solidFill>
                  <a:srgbClr val="888888"/>
                </a:solidFill>
              </a:defRPr>
            </a:lvl8pPr>
            <a:lvl9pPr indent="-228600" lvl="8" marL="4114800" rtl="0" algn="l">
              <a:spcBef>
                <a:spcPts val="500"/>
              </a:spcBef>
              <a:spcAft>
                <a:spcPts val="500"/>
              </a:spcAft>
              <a:buSzPts val="1200"/>
              <a:buNone/>
              <a:defRPr sz="1100">
                <a:solidFill>
                  <a:srgbClr val="888888"/>
                </a:solidFill>
              </a:defRPr>
            </a:lvl9pPr>
          </a:lstStyle>
          <a:p/>
        </p:txBody>
      </p:sp>
      <p:sp>
        <p:nvSpPr>
          <p:cNvPr id="53" name="Google Shape;53;p13"/>
          <p:cNvSpPr txBox="1"/>
          <p:nvPr>
            <p:ph idx="10" type="dt"/>
          </p:nvPr>
        </p:nvSpPr>
        <p:spPr>
          <a:xfrm>
            <a:off x="6508126" y="4476750"/>
            <a:ext cx="1200300" cy="209400"/>
          </a:xfrm>
          <a:prstGeom prst="rect">
            <a:avLst/>
          </a:prstGeom>
          <a:noFill/>
          <a:ln>
            <a:noFill/>
          </a:ln>
        </p:spPr>
        <p:txBody>
          <a:bodyPr anchorCtr="0" anchor="ctr" bIns="34275" lIns="68575" spcFirstLastPara="1" rIns="68575" wrap="square" tIns="34275">
            <a:noAutofit/>
          </a:bodyPr>
          <a:lstStyle>
            <a:lvl1pPr lvl="0" rtl="0" algn="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4" name="Google Shape;54;p13"/>
          <p:cNvSpPr txBox="1"/>
          <p:nvPr>
            <p:ph idx="11" type="ftr"/>
          </p:nvPr>
        </p:nvSpPr>
        <p:spPr>
          <a:xfrm>
            <a:off x="971551" y="4476750"/>
            <a:ext cx="5479500" cy="2094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55" name="Google Shape;55;p13"/>
          <p:cNvSpPr txBox="1"/>
          <p:nvPr>
            <p:ph idx="12" type="sldNum"/>
          </p:nvPr>
        </p:nvSpPr>
        <p:spPr>
          <a:xfrm>
            <a:off x="7765426" y="4476750"/>
            <a:ext cx="407100" cy="209400"/>
          </a:xfrm>
          <a:prstGeom prst="rect">
            <a:avLst/>
          </a:prstGeom>
          <a:noFill/>
          <a:ln>
            <a:noFill/>
          </a:ln>
        </p:spPr>
        <p:txBody>
          <a:bodyPr anchorCtr="0" anchor="ctr" bIns="34275" lIns="68575" spcFirstLastPara="1" rIns="68575" wrap="square" tIns="34275">
            <a:normAutofit lnSpcReduction="10000"/>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56" name="Google Shape;56;p13"/>
          <p:cNvCxnSpPr/>
          <p:nvPr/>
        </p:nvCxnSpPr>
        <p:spPr>
          <a:xfrm>
            <a:off x="1509542" y="2782939"/>
            <a:ext cx="6122400"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0" Type="http://schemas.openxmlformats.org/officeDocument/2006/relationships/hyperlink" Target="https://ncspe.tc.columbia.edu/working-papers/files/OP226.pdf" TargetMode="External"/><Relationship Id="rId11" Type="http://schemas.openxmlformats.org/officeDocument/2006/relationships/hyperlink" Target="https://www.learningandthebrain.com/blog/teaching-helps-students-learn-new-research/" TargetMode="External"/><Relationship Id="rId10" Type="http://schemas.openxmlformats.org/officeDocument/2006/relationships/hyperlink" Target="https://www.frontiersin.org/articles/10.3389/feduc.2023.1147498" TargetMode="External"/><Relationship Id="rId21" Type="http://schemas.openxmlformats.org/officeDocument/2006/relationships/hyperlink" Target="https://www.edweek.org/teaching-learning/opinion-students-often-reread-to-study-but-thats-not-effective/2022/03#:~:text=Research%20shows%20that%20watching%20someone,time%20to%20take%20a%20test." TargetMode="External"/><Relationship Id="rId13" Type="http://schemas.openxmlformats.org/officeDocument/2006/relationships/hyperlink" Target="https://visible-learning.org/hattie-ranking-influences-effect-sizes-learning-achievement/" TargetMode="External"/><Relationship Id="rId12" Type="http://schemas.openxmlformats.org/officeDocument/2006/relationships/hyperlink" Target="https://nces.ed.gov/pubs97/web/97536-2.asp" TargetMode="External"/><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visible-learning.org/hattie-ranking-influences-effect-sizes-learning-achievement/" TargetMode="External"/><Relationship Id="rId4" Type="http://schemas.openxmlformats.org/officeDocument/2006/relationships/hyperlink" Target="https://www.campbellcollaboration.org/better-evidence/small-class-sizes-student-achievement-primary-and-secondary-schools.html" TargetMode="External"/><Relationship Id="rId9" Type="http://schemas.openxmlformats.org/officeDocument/2006/relationships/hyperlink" Target="https://www.sciencedirect.com/science/article/pii/S0885200618300279" TargetMode="External"/><Relationship Id="rId15" Type="http://schemas.openxmlformats.org/officeDocument/2006/relationships/hyperlink" Target="https://www.researchgate.net/profile/Diane-Lapp/publication/321336458_If_You_Want_Students_to_Read_Widely_and_Well-Eliminate_Round-Robin_Reading/links/5a1d92a3aca2726120b307dc/If-You-Want-Students-to-Read-Widely-and-Well-Eliminate-Round-Robin-Reading.pdf" TargetMode="External"/><Relationship Id="rId14" Type="http://schemas.openxmlformats.org/officeDocument/2006/relationships/hyperlink" Target="https://www.rand.org/education-and-labor/projects/measuring-teacher-effectiveness/teachers-matter.html" TargetMode="External"/><Relationship Id="rId17" Type="http://schemas.openxmlformats.org/officeDocument/2006/relationships/hyperlink" Target="https://tntp.org/assets/documents/TNTP-Mirage_2015.pdf" TargetMode="External"/><Relationship Id="rId16" Type="http://schemas.openxmlformats.org/officeDocument/2006/relationships/hyperlink" Target="https://journals.sagepub.com/doi/pdf/10.1080/10862969609547919" TargetMode="External"/><Relationship Id="rId5" Type="http://schemas.openxmlformats.org/officeDocument/2006/relationships/hyperlink" Target="https://www.edutopia.org/article/highlighting-ineffective-heres-how-change/#:~:text=%E2%80%9CThe%20problem%20is%20that%20highlighting,when%20they're%20highlighting%2C%E2%80%9D" TargetMode="External"/><Relationship Id="rId19" Type="http://schemas.openxmlformats.org/officeDocument/2006/relationships/hyperlink" Target="https://www.jstor.org/stable/40703543?casa_token=mO7y9j1pwB4AAAAA:XUA29D8luwK5kmbaY7Vmp-7qkP9Z7Uv8KhBWVF5eoz2T3qFvG9uRUwYHA2JJ38NRKZhuP3XgtQbLGoqDYZVJ7Q7zJWFh3zUzYiUHHxIJTYhxwQWcg99Z&amp;seq=3#metadata_info_tab_contents" TargetMode="External"/><Relationship Id="rId6" Type="http://schemas.openxmlformats.org/officeDocument/2006/relationships/hyperlink" Target="https://www.nctq.org/dmsView/NCTQ_Driven_by_Data_Appendix_B" TargetMode="External"/><Relationship Id="rId18" Type="http://schemas.openxmlformats.org/officeDocument/2006/relationships/hyperlink" Target="https://visible-learning.org/hattie-ranking-influences-effect-sizes-learning-achievement/" TargetMode="External"/><Relationship Id="rId7" Type="http://schemas.openxmlformats.org/officeDocument/2006/relationships/hyperlink" Target="https://www.mhec.org/sites/default/files/resources/teacherprep1_20170301_3.pdf" TargetMode="External"/><Relationship Id="rId8" Type="http://schemas.openxmlformats.org/officeDocument/2006/relationships/hyperlink" Target="https://visible-learning.org/hattie-ranking-influences-effect-sizes-learning-achievemen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0" Type="http://schemas.openxmlformats.org/officeDocument/2006/relationships/hyperlink" Target="https://www.frontiersin.org/articles/10.3389/feduc.2023.1275126/full" TargetMode="External"/><Relationship Id="rId11" Type="http://schemas.openxmlformats.org/officeDocument/2006/relationships/hyperlink" Target="https://www.sciencedirect.com/science/article/pii/S0885200618300279" TargetMode="External"/><Relationship Id="rId22" Type="http://schemas.openxmlformats.org/officeDocument/2006/relationships/hyperlink" Target="https://ncspe.tc.columbia.edu/working-papers/files/OP226.pdf" TargetMode="External"/><Relationship Id="rId10" Type="http://schemas.openxmlformats.org/officeDocument/2006/relationships/hyperlink" Target="https://www.frontiersin.org/articles/10.3389/feduc.2022.916502/full#:~:text=A%20systematic%20review%20was%20carried,educational%20practices%20enriched%20with%20ICT." TargetMode="External"/><Relationship Id="rId21" Type="http://schemas.openxmlformats.org/officeDocument/2006/relationships/hyperlink" Target="https://www.frontiersin.org/articles/10.3389/feduc.2023.1147498" TargetMode="External"/><Relationship Id="rId13" Type="http://schemas.openxmlformats.org/officeDocument/2006/relationships/hyperlink" Target="https://nces.ed.gov/pubs97/web/97536-2.asp" TargetMode="External"/><Relationship Id="rId12" Type="http://schemas.openxmlformats.org/officeDocument/2006/relationships/hyperlink" Target="https://www.future-ed.org/evaluating-the-impact-of-teach-for-america-two-new-studies/" TargetMode="External"/><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campbellcollaboration.org/better-evidence/small-class-sizes-student-achievement-primary-and-secondary-schools.html" TargetMode="External"/><Relationship Id="rId4" Type="http://schemas.openxmlformats.org/officeDocument/2006/relationships/hyperlink" Target="https://www.nctq.org/dmsView/NCTQ_Driven_by_Data_Appendix_B" TargetMode="External"/><Relationship Id="rId9" Type="http://schemas.openxmlformats.org/officeDocument/2006/relationships/hyperlink" Target="https://www.educationnext.org/what-we-know-about-teacher-race-and-student-outcomes/" TargetMode="External"/><Relationship Id="rId15" Type="http://schemas.openxmlformats.org/officeDocument/2006/relationships/hyperlink" Target="https://tntp.org/assets/documents/TNTP-Mirage_2015.pdf" TargetMode="External"/><Relationship Id="rId14" Type="http://schemas.openxmlformats.org/officeDocument/2006/relationships/hyperlink" Target="https://www.rand.org/education-and-labor/projects/measuring-teacher-effectiveness/teachers-matter.html" TargetMode="External"/><Relationship Id="rId17" Type="http://schemas.openxmlformats.org/officeDocument/2006/relationships/hyperlink" Target="https://www0.gsb.columbia.edu/faculty/jrockoff/certification-final.pdf" TargetMode="External"/><Relationship Id="rId16" Type="http://schemas.openxmlformats.org/officeDocument/2006/relationships/hyperlink" Target="https://www.jstor.org/stable/40703543?casa_token=mO7y9j1pwB4AAAAA:XUA29D8luwK5kmbaY7Vmp-7qkP9Z7Uv8KhBWVF5eoz2T3qFvG9uRUwYHA2JJ38NRKZhuP3XgtQbLGoqDYZVJ7Q7zJWFh3zUzYiUHHxIJTYhxwQWcg99Z&amp;seq=3#metadata_info_tab_contents" TargetMode="External"/><Relationship Id="rId5" Type="http://schemas.openxmlformats.org/officeDocument/2006/relationships/hyperlink" Target="https://www.mhec.org/sites/default/files/resources/teacherprep1_20170301_3.pdf" TargetMode="External"/><Relationship Id="rId19" Type="http://schemas.openxmlformats.org/officeDocument/2006/relationships/hyperlink" Target="https://visible-learning.org/hattie-ranking-influences-effect-sizes-learning-achievement/" TargetMode="External"/><Relationship Id="rId6" Type="http://schemas.openxmlformats.org/officeDocument/2006/relationships/hyperlink" Target="https://link.springer.com/article/10.1007/s13384-023-00612-0#:~:text=The%20association%20has%20typically%20been,%26%20Sorensen%2C%202017%3B%20Papay%20%26" TargetMode="External"/><Relationship Id="rId18" Type="http://schemas.openxmlformats.org/officeDocument/2006/relationships/hyperlink" Target="https://visible-learning.org/hattie-ranking-influences-effect-sizes-learning-achievement/hattie-ranking-curricula-effects/" TargetMode="External"/><Relationship Id="rId7" Type="http://schemas.openxmlformats.org/officeDocument/2006/relationships/hyperlink" Target="https://hechingerreport.org/proof-points-debunking-the-myth-that-teachers-stop-improving-after-five-years/" TargetMode="External"/><Relationship Id="rId8" Type="http://schemas.openxmlformats.org/officeDocument/2006/relationships/hyperlink" Target="https://www.sciencedirect.com/science/article/abs/pii/S1747938X15000032" TargetMode="External"/></Relationships>
</file>

<file path=ppt/slides/_rels/slide6.xml.rels><?xml version="1.0" encoding="UTF-8" standalone="yes"?><Relationships xmlns="http://schemas.openxmlformats.org/package/2006/relationships"><Relationship Id="rId20" Type="http://schemas.openxmlformats.org/officeDocument/2006/relationships/hyperlink" Target="https://link.springer.com/article/10.1007/s13384-023-00612-0#:~:text=The%20association%20has%20typically%20been,%26%20Sorensen%2C%202017%3B%20Papay%20%26" TargetMode="External"/><Relationship Id="rId22" Type="http://schemas.openxmlformats.org/officeDocument/2006/relationships/hyperlink" Target="https://www.sciencedirect.com/science/article/abs/pii/S1747938X15000032" TargetMode="External"/><Relationship Id="rId21" Type="http://schemas.openxmlformats.org/officeDocument/2006/relationships/hyperlink" Target="https://hechingerreport.org/proof-points-debunking-the-myth-that-teachers-stop-improving-after-five-years/" TargetMode="External"/><Relationship Id="rId24" Type="http://schemas.openxmlformats.org/officeDocument/2006/relationships/hyperlink" Target="https://www.frontiersin.org/articles/10.3389/feduc.2022.916502/full#:~:text=A%20systematic%20review%20was%20carried,educational%20practices%20enriched%20with%20ICT." TargetMode="External"/><Relationship Id="rId23" Type="http://schemas.openxmlformats.org/officeDocument/2006/relationships/hyperlink" Target="https://www.educationnext.org/what-we-know-about-teacher-race-and-student-outcomes/" TargetMode="External"/><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brookings.edu/articles/class-size-what-research-says-and-what-it-means-for-state-policy/" TargetMode="External"/><Relationship Id="rId4" Type="http://schemas.openxmlformats.org/officeDocument/2006/relationships/hyperlink" Target="https://www.campbellcollaboration.org/better-evidence/small-class-sizes-student-achievement-primary-and-secondary-schools.html" TargetMode="External"/><Relationship Id="rId9" Type="http://schemas.openxmlformats.org/officeDocument/2006/relationships/hyperlink" Target="https://caldercenter.org/sites/default/files/WP%20136_0.pdf" TargetMode="External"/><Relationship Id="rId26" Type="http://schemas.openxmlformats.org/officeDocument/2006/relationships/hyperlink" Target="https://www.future-ed.org/evaluating-the-impact-of-teach-for-america-two-new-studies/" TargetMode="External"/><Relationship Id="rId25" Type="http://schemas.openxmlformats.org/officeDocument/2006/relationships/hyperlink" Target="https://www.sciencedirect.com/science/article/pii/S0885200618300279" TargetMode="External"/><Relationship Id="rId5" Type="http://schemas.openxmlformats.org/officeDocument/2006/relationships/hyperlink" Target="https://www.insidehighered.com/news/2020/06/18/study-some-things-matter-more-class-size-when-it-comes-student-success" TargetMode="External"/><Relationship Id="rId6" Type="http://schemas.openxmlformats.org/officeDocument/2006/relationships/hyperlink" Target="https://ies.ed.gov/ncee/edlabs/regions/northwest/pdf/potential-testing-barriers.pdf" TargetMode="External"/><Relationship Id="rId7" Type="http://schemas.openxmlformats.org/officeDocument/2006/relationships/hyperlink" Target="https://www.rand.org/content/dam/rand/pubs/working_papers/2008/RAND_WR555.pdf" TargetMode="External"/><Relationship Id="rId8" Type="http://schemas.openxmlformats.org/officeDocument/2006/relationships/hyperlink" Target="https://files.eric.ed.gov/fulltext/ED560206.pdf" TargetMode="External"/><Relationship Id="rId11" Type="http://schemas.openxmlformats.org/officeDocument/2006/relationships/hyperlink" Target="https://learningpolicyinstitute.org/sites/default/files/product-files/Teaching_Experience_Report_June_2016.pdf" TargetMode="External"/><Relationship Id="rId10" Type="http://schemas.openxmlformats.org/officeDocument/2006/relationships/hyperlink" Target="https://www.nber.org/digest/aug07/teacher-credentials-dont-matter-student-achievement" TargetMode="External"/><Relationship Id="rId13" Type="http://schemas.openxmlformats.org/officeDocument/2006/relationships/hyperlink" Target="https://www.ncbi.nlm.nih.gov/pmc/articles/PMC2782391/" TargetMode="External"/><Relationship Id="rId12" Type="http://schemas.openxmlformats.org/officeDocument/2006/relationships/hyperlink" Target="https://files.eric.ed.gov/fulltext/EJ1280652.pdf" TargetMode="External"/><Relationship Id="rId15" Type="http://schemas.openxmlformats.org/officeDocument/2006/relationships/hyperlink" Target="https://www.jstor.org/stable/44955364" TargetMode="External"/><Relationship Id="rId14" Type="http://schemas.openxmlformats.org/officeDocument/2006/relationships/hyperlink" Target="https://link.springer.com/article/10.1023/A:1009048817385" TargetMode="External"/><Relationship Id="rId17" Type="http://schemas.openxmlformats.org/officeDocument/2006/relationships/hyperlink" Target="https://www.campbellcollaboration.org/better-evidence/small-class-sizes-student-achievement-primary-and-secondary-schools.html" TargetMode="External"/><Relationship Id="rId16" Type="http://schemas.openxmlformats.org/officeDocument/2006/relationships/hyperlink" Target="https://archive.globalfrp.org/family-involvement/publications-resources/a-meta-analysis-of-the-efficacy-of-different-types-of-parental-involvement-programs-for-urban-students" TargetMode="External"/><Relationship Id="rId19" Type="http://schemas.openxmlformats.org/officeDocument/2006/relationships/hyperlink" Target="https://www.mhec.org/sites/default/files/resources/teacherprep1_20170301_3.pdf" TargetMode="External"/><Relationship Id="rId18" Type="http://schemas.openxmlformats.org/officeDocument/2006/relationships/hyperlink" Target="https://www.nctq.org/dmsView/NCTQ_Driven_by_Data_Appendix_B" TargetMode="External"/></Relationships>
</file>

<file path=ppt/slides/_rels/slide7.xml.rels><?xml version="1.0" encoding="UTF-8" standalone="yes"?><Relationships xmlns="http://schemas.openxmlformats.org/package/2006/relationships"><Relationship Id="rId40" Type="http://schemas.openxmlformats.org/officeDocument/2006/relationships/hyperlink" Target="https://www.frontiersin.org/articles/10.3389/feduc.2023.1147498" TargetMode="External"/><Relationship Id="rId20" Type="http://schemas.openxmlformats.org/officeDocument/2006/relationships/hyperlink" Target="https://www.slowboring.com/p/the-pandemics-lesson-on-teacher-licensure" TargetMode="External"/><Relationship Id="rId41" Type="http://schemas.openxmlformats.org/officeDocument/2006/relationships/hyperlink" Target="https://ncspe.tc.columbia.edu/working-papers/files/OP226.pdf" TargetMode="External"/><Relationship Id="rId22" Type="http://schemas.openxmlformats.org/officeDocument/2006/relationships/hyperlink" Target="https://www.sciencedirect.com/science/article/pii/S1747938X19302714" TargetMode="External"/><Relationship Id="rId21" Type="http://schemas.openxmlformats.org/officeDocument/2006/relationships/hyperlink" Target="https://www.researchgate.net/publication/245970278_Does_Teacher_Certification_Matter_Evaluating_the_Evidence" TargetMode="External"/><Relationship Id="rId24" Type="http://schemas.openxmlformats.org/officeDocument/2006/relationships/hyperlink" Target="https://link.springer.com/chapter/10.1007/978-3-030-16151-4_2#ref-CR50" TargetMode="External"/><Relationship Id="rId23" Type="http://schemas.openxmlformats.org/officeDocument/2006/relationships/hyperlink" Target="https://journals.sagepub.com/doi/10.1177/0569434519874471" TargetMode="External"/><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nber.org/system/files/working_papers/w20847/w20847.pdf" TargetMode="External"/><Relationship Id="rId4" Type="http://schemas.openxmlformats.org/officeDocument/2006/relationships/hyperlink" Target="https://nces.ed.gov/pubs97/web/97536-2.asp" TargetMode="External"/><Relationship Id="rId9" Type="http://schemas.openxmlformats.org/officeDocument/2006/relationships/hyperlink" Target="https://rossier.usc.edu/news-insights/news/schools-spend-millions-professional-learning-how-do-we-know-its-working" TargetMode="External"/><Relationship Id="rId26" Type="http://schemas.openxmlformats.org/officeDocument/2006/relationships/hyperlink" Target="https://files.eric.ed.gov/fulltext/ED509655.pdf" TargetMode="External"/><Relationship Id="rId25" Type="http://schemas.openxmlformats.org/officeDocument/2006/relationships/hyperlink" Target="https://link.springer.com/chapter/10.1007/978-3-030-16151-4_2" TargetMode="External"/><Relationship Id="rId28" Type="http://schemas.openxmlformats.org/officeDocument/2006/relationships/hyperlink" Target="https://eric.ed.gov/?id=EJ1020207" TargetMode="External"/><Relationship Id="rId27" Type="http://schemas.openxmlformats.org/officeDocument/2006/relationships/hyperlink" Target="https://www.jstor.org/stable/3594160" TargetMode="External"/><Relationship Id="rId5" Type="http://schemas.openxmlformats.org/officeDocument/2006/relationships/hyperlink" Target="https://www.edweek.org/policy-politics/student-outcomes-does-more-money-really-matter/2019/06" TargetMode="External"/><Relationship Id="rId6" Type="http://schemas.openxmlformats.org/officeDocument/2006/relationships/hyperlink" Target="https://www.aei.org/wp-content/uploads/2019/09/The-Relationship-Between-School-Funding-And-Student-Outcomes.pdf" TargetMode="External"/><Relationship Id="rId29" Type="http://schemas.openxmlformats.org/officeDocument/2006/relationships/hyperlink" Target="https://cepr.harvard.edu/curriculum-press-release" TargetMode="External"/><Relationship Id="rId7" Type="http://schemas.openxmlformats.org/officeDocument/2006/relationships/hyperlink" Target="https://www.edweek.org/leadership/what-works-and-what-doesnt-in-teacher-pd/2022/10" TargetMode="External"/><Relationship Id="rId8" Type="http://schemas.openxmlformats.org/officeDocument/2006/relationships/hyperlink" Target="https://journals.sagepub.com/doi/abs/10.1177/0022487119899101" TargetMode="External"/><Relationship Id="rId31" Type="http://schemas.openxmlformats.org/officeDocument/2006/relationships/hyperlink" Target="https://visible-learning.org/2014/08/john-hattie-mind-frames-teachers/" TargetMode="External"/><Relationship Id="rId30" Type="http://schemas.openxmlformats.org/officeDocument/2006/relationships/hyperlink" Target="https://www.edweek.org/education/opinion-poverty-matters-but-not-the-way-you-think/2016/10" TargetMode="External"/><Relationship Id="rId11" Type="http://schemas.openxmlformats.org/officeDocument/2006/relationships/hyperlink" Target="https://link.springer.com/chapter/10.1007/978-3-030-16151-4_2" TargetMode="External"/><Relationship Id="rId33" Type="http://schemas.openxmlformats.org/officeDocument/2006/relationships/hyperlink" Target="https://www.rand.org/education-and-labor/projects/measuring-teacher-effectiveness/teachers-matter.html" TargetMode="External"/><Relationship Id="rId10" Type="http://schemas.openxmlformats.org/officeDocument/2006/relationships/hyperlink" Target="https://ies.ed.gov/ncee/edlabs/regions/southwest/pdf/rel_2007033.pdf" TargetMode="External"/><Relationship Id="rId32" Type="http://schemas.openxmlformats.org/officeDocument/2006/relationships/hyperlink" Target="https://nces.ed.gov/pubs97/web/97536-2.asp" TargetMode="External"/><Relationship Id="rId13" Type="http://schemas.openxmlformats.org/officeDocument/2006/relationships/hyperlink" Target="https://www.mitpressjournals.org/doi/abs/10.1162/003465300558894#authorsTabList" TargetMode="External"/><Relationship Id="rId35" Type="http://schemas.openxmlformats.org/officeDocument/2006/relationships/hyperlink" Target="https://www.jstor.org/stable/40703543?casa_token=mO7y9j1pwB4AAAAA:XUA29D8luwK5kmbaY7Vmp-7qkP9Z7Uv8KhBWVF5eoz2T3qFvG9uRUwYHA2JJ38NRKZhuP3XgtQbLGoqDYZVJ7Q7zJWFh3zUzYiUHHxIJTYhxwQWcg99Z&amp;seq=3#metadata_info_tab_contents" TargetMode="External"/><Relationship Id="rId12" Type="http://schemas.openxmlformats.org/officeDocument/2006/relationships/hyperlink" Target="https://www.nber.org/papers/w7082" TargetMode="External"/><Relationship Id="rId34" Type="http://schemas.openxmlformats.org/officeDocument/2006/relationships/hyperlink" Target="https://tntp.org/assets/documents/TNTP-Mirage_2015.pdf" TargetMode="External"/><Relationship Id="rId15" Type="http://schemas.openxmlformats.org/officeDocument/2006/relationships/hyperlink" Target="https://www.nber.org/papers/w24813" TargetMode="External"/><Relationship Id="rId37" Type="http://schemas.openxmlformats.org/officeDocument/2006/relationships/hyperlink" Target="https://visible-learning.org/hattie-ranking-influences-effect-sizes-learning-achievement/hattie-ranking-curricula-effects/" TargetMode="External"/><Relationship Id="rId14" Type="http://schemas.openxmlformats.org/officeDocument/2006/relationships/hyperlink" Target="https://www-sciencedirect-com.ezp-prod1.hul.harvard.edu/science/article/pii/S0047272713002119" TargetMode="External"/><Relationship Id="rId36" Type="http://schemas.openxmlformats.org/officeDocument/2006/relationships/hyperlink" Target="https://www0.gsb.columbia.edu/faculty/jrockoff/certification-final.pdf" TargetMode="External"/><Relationship Id="rId17" Type="http://schemas.openxmlformats.org/officeDocument/2006/relationships/hyperlink" Target="https://journals.sagepub.com/doi/abs/10.3102/0002831220905580" TargetMode="External"/><Relationship Id="rId39" Type="http://schemas.openxmlformats.org/officeDocument/2006/relationships/hyperlink" Target="https://www.frontiersin.org/articles/10.3389/feduc.2023.1275126/full" TargetMode="External"/><Relationship Id="rId16" Type="http://schemas.openxmlformats.org/officeDocument/2006/relationships/hyperlink" Target="http://v" TargetMode="External"/><Relationship Id="rId38" Type="http://schemas.openxmlformats.org/officeDocument/2006/relationships/hyperlink" Target="https://visible-learning.org/hattie-ranking-influences-effect-sizes-learning-achievement/" TargetMode="External"/><Relationship Id="rId19" Type="http://schemas.openxmlformats.org/officeDocument/2006/relationships/hyperlink" Target="https://journals.sagepub.com/doi/full/10.1177/21582440221082138" TargetMode="External"/><Relationship Id="rId18" Type="http://schemas.openxmlformats.org/officeDocument/2006/relationships/hyperlink" Target="https://www.nctq.org/blog/What-are-the-long--term-effects-of-teacher-performance-pay-on-student-outcomes#:~:text=The%20body%20of%20research%20documenting,persist%20in%20the%20long%20run."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www.campbellcollaboration.org/better-evidence/small-class-sizes-student-achievement-primary-and-secondary-schools.html" TargetMode="External"/><Relationship Id="rId4" Type="http://schemas.openxmlformats.org/officeDocument/2006/relationships/hyperlink" Target="https://www.amazon.com/Make-Stick-Science-Successful-Learning/dp/0674729013" TargetMode="External"/><Relationship Id="rId9" Type="http://schemas.openxmlformats.org/officeDocument/2006/relationships/hyperlink" Target="https://onlinelibrary.wiley.com/doi/10.1002/j.2168-9830.2004.tb00809.x" TargetMode="External"/><Relationship Id="rId5" Type="http://schemas.openxmlformats.org/officeDocument/2006/relationships/hyperlink" Target="https://www.mhec.org/sites/default/files/resources/teacherprep1_20170301_3.pdf" TargetMode="External"/><Relationship Id="rId6" Type="http://schemas.openxmlformats.org/officeDocument/2006/relationships/hyperlink" Target="https://www.amazon.com/Make-Stick-Science-Successful-Learning/dp/0674729013" TargetMode="External"/><Relationship Id="rId7" Type="http://schemas.openxmlformats.org/officeDocument/2006/relationships/hyperlink" Target="https://journals.sagepub.com/doi/10.3102/00346543076001001" TargetMode="External"/><Relationship Id="rId8" Type="http://schemas.openxmlformats.org/officeDocument/2006/relationships/hyperlink" Target="https://www.youtube.com/watch?v=YUooOYbgSUg" TargetMode="External"/><Relationship Id="rId11" Type="http://schemas.openxmlformats.org/officeDocument/2006/relationships/hyperlink" Target="https://www.sciencedirect.com/science/article/pii/S0885200618300279" TargetMode="External"/><Relationship Id="rId10" Type="http://schemas.openxmlformats.org/officeDocument/2006/relationships/hyperlink" Target="https://www.frontiersin.org/articles/10.3389/feduc.2022.916502/full#:~:text=A%20systematic%20review%20was%20carried,educational%20practices%20enriched%20with%20ICT." TargetMode="External"/><Relationship Id="rId13" Type="http://schemas.openxmlformats.org/officeDocument/2006/relationships/hyperlink" Target="https://www.nber.org/system/files/working_papers/w20847/w20847.pdf" TargetMode="External"/><Relationship Id="rId12" Type="http://schemas.openxmlformats.org/officeDocument/2006/relationships/hyperlink" Target="https://visible-learning.org/hattie-ranking-influences-effect-sizes-learning-achievement/" TargetMode="External"/><Relationship Id="rId15" Type="http://schemas.openxmlformats.org/officeDocument/2006/relationships/hyperlink" Target="https://www.edweek.org/policy-politics/student-outcomes-does-more-money-really-matter/2019/06" TargetMode="External"/><Relationship Id="rId14" Type="http://schemas.openxmlformats.org/officeDocument/2006/relationships/hyperlink" Target="https://nces.ed.gov/pubs97/web/97536-2.asp" TargetMode="External"/><Relationship Id="rId17" Type="http://schemas.openxmlformats.org/officeDocument/2006/relationships/hyperlink" Target="https://caldercenter.org/sites/default/files/WP%20136_0.pdf" TargetMode="External"/><Relationship Id="rId16" Type="http://schemas.openxmlformats.org/officeDocument/2006/relationships/hyperlink" Target="https://www.aei.org/wp-content/uploads/2019/09/The-Relationship-Between-School-Funding-And-Student-Outcomes.pdf" TargetMode="External"/><Relationship Id="rId18" Type="http://schemas.openxmlformats.org/officeDocument/2006/relationships/hyperlink" Target="https://www.nber.org/digest/aug07/teacher-credentials-dont-matter-student-achievement" TargetMode="External"/></Relationships>
</file>

<file path=ppt/slides/_rels/slide11.xml.rels><?xml version="1.0" encoding="UTF-8" standalone="yes"?><Relationships xmlns="http://schemas.openxmlformats.org/package/2006/relationships"><Relationship Id="rId20" Type="http://schemas.openxmlformats.org/officeDocument/2006/relationships/hyperlink" Target="https://link.springer.com/chapter/10.1007/978-3-030-16151-4_2" TargetMode="External"/><Relationship Id="rId22" Type="http://schemas.openxmlformats.org/officeDocument/2006/relationships/hyperlink" Target="https://www.mitpressjournals.org/doi/abs/10.1162/003465300558894#authorsTabList" TargetMode="External"/><Relationship Id="rId21" Type="http://schemas.openxmlformats.org/officeDocument/2006/relationships/hyperlink" Target="https://www.nber.org/papers/w7082" TargetMode="External"/><Relationship Id="rId24" Type="http://schemas.openxmlformats.org/officeDocument/2006/relationships/hyperlink" Target="https://www.nber.org/papers/w24813" TargetMode="External"/><Relationship Id="rId23" Type="http://schemas.openxmlformats.org/officeDocument/2006/relationships/hyperlink" Target="https://www-sciencedirect-com.ezp-prod1.hul.harvard.edu/science/article/pii/S0047272713002119" TargetMode="External"/><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nces.ed.gov/pubs97/web/97536-2.asp" TargetMode="External"/><Relationship Id="rId4" Type="http://schemas.openxmlformats.org/officeDocument/2006/relationships/hyperlink" Target="https://www.rand.org/education-and-labor/projects/measuring-teacher-effectiveness/teachers-matter.html" TargetMode="External"/><Relationship Id="rId9" Type="http://schemas.openxmlformats.org/officeDocument/2006/relationships/hyperlink" Target="https://www.amazon.com/Make-Stick-Science-Successful-Learning/dp/0674729013" TargetMode="External"/><Relationship Id="rId26" Type="http://schemas.openxmlformats.org/officeDocument/2006/relationships/hyperlink" Target="https://journals.sagepub.com/doi/abs/10.3102/0002831220905580" TargetMode="External"/><Relationship Id="rId25" Type="http://schemas.openxmlformats.org/officeDocument/2006/relationships/hyperlink" Target="http://v" TargetMode="External"/><Relationship Id="rId28" Type="http://schemas.openxmlformats.org/officeDocument/2006/relationships/hyperlink" Target="https://journals.sagepub.com/doi/full/10.1177/21582440221082138" TargetMode="External"/><Relationship Id="rId27" Type="http://schemas.openxmlformats.org/officeDocument/2006/relationships/hyperlink" Target="https://www.nctq.org/blog/What-are-the-long--term-effects-of-teacher-performance-pay-on-student-outcomes#:~:text=The%20body%20of%20research%20documenting,persist%20in%20the%20long%20run." TargetMode="External"/><Relationship Id="rId5" Type="http://schemas.openxmlformats.org/officeDocument/2006/relationships/hyperlink" Target="https://tntp.org/assets/documents/TNTP-Mirage_2015.pdf" TargetMode="External"/><Relationship Id="rId6" Type="http://schemas.openxmlformats.org/officeDocument/2006/relationships/hyperlink" Target="https://www.jstor.org/stable/40703543?casa_token=mO7y9j1pwB4AAAAA:XUA29D8luwK5kmbaY7Vmp-7qkP9Z7Uv8KhBWVF5eoz2T3qFvG9uRUwYHA2JJ38NRKZhuP3XgtQbLGoqDYZVJ7Q7zJWFh3zUzYiUHHxIJTYhxwQWcg99Z&amp;seq=3#metadata_info_tab_contents" TargetMode="External"/><Relationship Id="rId29" Type="http://schemas.openxmlformats.org/officeDocument/2006/relationships/hyperlink" Target="https://www.slowboring.com/p/the-pandemics-lesson-on-teacher-licensure" TargetMode="External"/><Relationship Id="rId7" Type="http://schemas.openxmlformats.org/officeDocument/2006/relationships/hyperlink" Target="https://www.amazon.com/Make-Stick-Science-Successful-Learning/dp/0674729013" TargetMode="External"/><Relationship Id="rId8" Type="http://schemas.openxmlformats.org/officeDocument/2006/relationships/hyperlink" Target="https://www0.gsb.columbia.edu/faculty/jrockoff/certification-final.pdf" TargetMode="External"/><Relationship Id="rId31" Type="http://schemas.openxmlformats.org/officeDocument/2006/relationships/hyperlink" Target="https://www.sciencedirect.com/science/article/pii/S1747938X19302714" TargetMode="External"/><Relationship Id="rId30" Type="http://schemas.openxmlformats.org/officeDocument/2006/relationships/hyperlink" Target="https://www.researchgate.net/publication/245970278_Does_Teacher_Certification_Matter_Evaluating_the_Evidence" TargetMode="External"/><Relationship Id="rId11" Type="http://schemas.openxmlformats.org/officeDocument/2006/relationships/hyperlink" Target="https://www.researchgate.net/publication/318253303_The_Effect_of_Graphic_Organizers_on_Language_Teaching_and_Learning_Areas_A_Meta-Analysis_Study?utm_source=chatgpt.com" TargetMode="External"/><Relationship Id="rId33" Type="http://schemas.openxmlformats.org/officeDocument/2006/relationships/hyperlink" Target="https://link.springer.com/chapter/10.1007/978-3-030-16151-4_2#ref-CR50" TargetMode="External"/><Relationship Id="rId10" Type="http://schemas.openxmlformats.org/officeDocument/2006/relationships/hyperlink" Target="https://www.frontiersin.org/articles/10.3389/feduc.2023.1147498" TargetMode="External"/><Relationship Id="rId32" Type="http://schemas.openxmlformats.org/officeDocument/2006/relationships/hyperlink" Target="https://journals.sagepub.com/doi/10.1177/0569434519874471" TargetMode="External"/><Relationship Id="rId13" Type="http://schemas.openxmlformats.org/officeDocument/2006/relationships/hyperlink" Target="https://nces.ed.gov/pubs97/web/97536-2.asp" TargetMode="External"/><Relationship Id="rId35" Type="http://schemas.openxmlformats.org/officeDocument/2006/relationships/hyperlink" Target="https://files.eric.ed.gov/fulltext/ED509655.pdf" TargetMode="External"/><Relationship Id="rId12" Type="http://schemas.openxmlformats.org/officeDocument/2006/relationships/hyperlink" Target="https://www.nber.org/system/files/working_papers/w20847/w20847.pdf" TargetMode="External"/><Relationship Id="rId34" Type="http://schemas.openxmlformats.org/officeDocument/2006/relationships/hyperlink" Target="https://link.springer.com/chapter/10.1007/978-3-030-16151-4_2" TargetMode="External"/><Relationship Id="rId15" Type="http://schemas.openxmlformats.org/officeDocument/2006/relationships/hyperlink" Target="https://www.aei.org/wp-content/uploads/2019/09/The-Relationship-Between-School-Funding-And-Student-Outcomes.pdf" TargetMode="External"/><Relationship Id="rId37" Type="http://schemas.openxmlformats.org/officeDocument/2006/relationships/hyperlink" Target="https://eric.ed.gov/?id=EJ1020207" TargetMode="External"/><Relationship Id="rId14" Type="http://schemas.openxmlformats.org/officeDocument/2006/relationships/hyperlink" Target="https://www.edweek.org/policy-politics/student-outcomes-does-more-money-really-matter/2019/06" TargetMode="External"/><Relationship Id="rId36" Type="http://schemas.openxmlformats.org/officeDocument/2006/relationships/hyperlink" Target="https://www.jstor.org/stable/3594160" TargetMode="External"/><Relationship Id="rId17" Type="http://schemas.openxmlformats.org/officeDocument/2006/relationships/hyperlink" Target="https://journals.sagepub.com/doi/abs/10.1177/0022487119899101" TargetMode="External"/><Relationship Id="rId16" Type="http://schemas.openxmlformats.org/officeDocument/2006/relationships/hyperlink" Target="https://www.edweek.org/leadership/what-works-and-what-doesnt-in-teacher-pd/2022/10" TargetMode="External"/><Relationship Id="rId19" Type="http://schemas.openxmlformats.org/officeDocument/2006/relationships/hyperlink" Target="https://ies.ed.gov/ncee/edlabs/regions/southwest/pdf/rel_2007033.pdf" TargetMode="External"/><Relationship Id="rId18" Type="http://schemas.openxmlformats.org/officeDocument/2006/relationships/hyperlink" Target="https://rossier.usc.edu/news-insights/news/schools-spend-millions-professional-learning-how-do-we-know-its-work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4F4F4"/>
            </a:gs>
            <a:gs pos="100000">
              <a:srgbClr val="C8C8C8"/>
            </a:gs>
          </a:gsLst>
          <a:lin ang="5400012" scaled="0"/>
        </a:gradFill>
      </p:bgPr>
    </p:bg>
    <p:spTree>
      <p:nvGrpSpPr>
        <p:cNvPr id="60" name="Shape 60"/>
        <p:cNvGrpSpPr/>
        <p:nvPr/>
      </p:nvGrpSpPr>
      <p:grpSpPr>
        <a:xfrm>
          <a:off x="0" y="0"/>
          <a:ext cx="0" cy="0"/>
          <a:chOff x="0" y="0"/>
          <a:chExt cx="0" cy="0"/>
        </a:xfrm>
      </p:grpSpPr>
      <p:grpSp>
        <p:nvGrpSpPr>
          <p:cNvPr id="61" name="Google Shape;61;p14"/>
          <p:cNvGrpSpPr/>
          <p:nvPr/>
        </p:nvGrpSpPr>
        <p:grpSpPr>
          <a:xfrm>
            <a:off x="-12700" y="0"/>
            <a:ext cx="9173370" cy="5142161"/>
            <a:chOff x="-16934" y="0"/>
            <a:chExt cx="12231160" cy="6856215"/>
          </a:xfrm>
        </p:grpSpPr>
        <p:pic>
          <p:nvPicPr>
            <p:cNvPr id="62" name="Google Shape;62;p14"/>
            <p:cNvPicPr preferRelativeResize="0"/>
            <p:nvPr/>
          </p:nvPicPr>
          <p:blipFill rotWithShape="1">
            <a:blip r:embed="rId3">
              <a:alphaModFix/>
            </a:blip>
            <a:srcRect b="0" l="0" r="0" t="0"/>
            <a:stretch/>
          </p:blipFill>
          <p:spPr>
            <a:xfrm>
              <a:off x="0" y="0"/>
              <a:ext cx="12188827" cy="6856215"/>
            </a:xfrm>
            <a:prstGeom prst="rect">
              <a:avLst/>
            </a:prstGeom>
            <a:noFill/>
            <a:ln>
              <a:noFill/>
            </a:ln>
          </p:spPr>
        </p:pic>
        <p:sp>
          <p:nvSpPr>
            <p:cNvPr id="63" name="Google Shape;63;p14"/>
            <p:cNvSpPr/>
            <p:nvPr/>
          </p:nvSpPr>
          <p:spPr>
            <a:xfrm>
              <a:off x="2328332" y="1540931"/>
              <a:ext cx="7543800" cy="3835500"/>
            </a:xfrm>
            <a:prstGeom prst="rect">
              <a:avLst/>
            </a:prstGeom>
            <a:noFill/>
            <a:ln cap="flat" cmpd="sng" w="15875">
              <a:solidFill>
                <a:schemeClr val="accen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id="64" name="Google Shape;64;p14"/>
            <p:cNvPicPr preferRelativeResize="0"/>
            <p:nvPr/>
          </p:nvPicPr>
          <p:blipFill rotWithShape="1">
            <a:blip r:embed="rId4">
              <a:alphaModFix/>
            </a:blip>
            <a:srcRect b="0" l="0" r="0" t="0"/>
            <a:stretch/>
          </p:blipFill>
          <p:spPr>
            <a:xfrm>
              <a:off x="-16934" y="3147609"/>
              <a:ext cx="2478024" cy="612648"/>
            </a:xfrm>
            <a:prstGeom prst="rect">
              <a:avLst/>
            </a:prstGeom>
            <a:noFill/>
            <a:ln>
              <a:noFill/>
            </a:ln>
          </p:spPr>
        </p:pic>
        <p:pic>
          <p:nvPicPr>
            <p:cNvPr id="65" name="Google Shape;65;p14"/>
            <p:cNvPicPr preferRelativeResize="0"/>
            <p:nvPr/>
          </p:nvPicPr>
          <p:blipFill rotWithShape="1">
            <a:blip r:embed="rId4">
              <a:alphaModFix/>
            </a:blip>
            <a:srcRect b="0" l="0" r="0" t="0"/>
            <a:stretch/>
          </p:blipFill>
          <p:spPr>
            <a:xfrm>
              <a:off x="9736202" y="3147609"/>
              <a:ext cx="2478024" cy="612648"/>
            </a:xfrm>
            <a:prstGeom prst="rect">
              <a:avLst/>
            </a:prstGeom>
            <a:noFill/>
            <a:ln>
              <a:noFill/>
            </a:ln>
          </p:spPr>
        </p:pic>
      </p:grpSp>
      <p:cxnSp>
        <p:nvCxnSpPr>
          <p:cNvPr id="66" name="Google Shape;66;p14"/>
          <p:cNvCxnSpPr/>
          <p:nvPr/>
        </p:nvCxnSpPr>
        <p:spPr>
          <a:xfrm>
            <a:off x="2019299" y="2641598"/>
            <a:ext cx="5111700" cy="0"/>
          </a:xfrm>
          <a:prstGeom prst="straightConnector1">
            <a:avLst/>
          </a:prstGeom>
          <a:noFill/>
          <a:ln cap="flat" cmpd="sng" w="15875">
            <a:solidFill>
              <a:schemeClr val="accent1"/>
            </a:solidFill>
            <a:prstDash val="solid"/>
            <a:round/>
            <a:headEnd len="sm" w="sm" type="none"/>
            <a:tailEnd len="sm" w="sm" type="none"/>
          </a:ln>
        </p:spPr>
      </p:cxnSp>
      <p:sp>
        <p:nvSpPr>
          <p:cNvPr id="67" name="Google Shape;67;p14"/>
          <p:cNvSpPr/>
          <p:nvPr/>
        </p:nvSpPr>
        <p:spPr>
          <a:xfrm>
            <a:off x="0" y="0"/>
            <a:ext cx="9144000" cy="5143500"/>
          </a:xfrm>
          <a:prstGeom prst="rect">
            <a:avLst/>
          </a:prstGeom>
          <a:gradFill>
            <a:gsLst>
              <a:gs pos="0">
                <a:srgbClr val="F4F4F4"/>
              </a:gs>
              <a:gs pos="100000">
                <a:srgbClr val="C8C8C8"/>
              </a:gs>
            </a:gsLst>
            <a:lin ang="5400012" scaled="0"/>
          </a:gra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aramond"/>
              <a:ea typeface="Garamond"/>
              <a:cs typeface="Garamond"/>
              <a:sym typeface="Garamond"/>
            </a:endParaRPr>
          </a:p>
        </p:txBody>
      </p:sp>
      <p:sp>
        <p:nvSpPr>
          <p:cNvPr id="68" name="Google Shape;68;p14"/>
          <p:cNvSpPr/>
          <p:nvPr/>
        </p:nvSpPr>
        <p:spPr>
          <a:xfrm>
            <a:off x="1643940" y="1049910"/>
            <a:ext cx="5856000" cy="3078000"/>
          </a:xfrm>
          <a:prstGeom prst="rect">
            <a:avLst/>
          </a:prstGeom>
          <a:gradFill>
            <a:gsLst>
              <a:gs pos="0">
                <a:srgbClr val="3C638B"/>
              </a:gs>
              <a:gs pos="23000">
                <a:srgbClr val="3C638B"/>
              </a:gs>
              <a:gs pos="69000">
                <a:srgbClr val="335375"/>
              </a:gs>
              <a:gs pos="97000">
                <a:srgbClr val="2F4E6D"/>
              </a:gs>
              <a:gs pos="100000">
                <a:srgbClr val="2F4E6D"/>
              </a:gs>
            </a:gsLst>
            <a:path path="circle">
              <a:fillToRect b="50%" l="50%" r="50%" t="50%"/>
            </a:path>
            <a:tileRect/>
          </a:gradFill>
          <a:ln>
            <a:noFill/>
          </a:ln>
          <a:effectLst>
            <a:outerShdw blurRad="114300" sx="99000" rotWithShape="0" algn="t" dir="5400000" dist="127000" sy="990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aramond"/>
              <a:ea typeface="Garamond"/>
              <a:cs typeface="Garamond"/>
              <a:sym typeface="Garamond"/>
            </a:endParaRPr>
          </a:p>
        </p:txBody>
      </p:sp>
      <p:sp>
        <p:nvSpPr>
          <p:cNvPr id="69" name="Google Shape;69;p14"/>
          <p:cNvSpPr/>
          <p:nvPr/>
        </p:nvSpPr>
        <p:spPr>
          <a:xfrm>
            <a:off x="1746249" y="1155698"/>
            <a:ext cx="5658000" cy="2876700"/>
          </a:xfrm>
          <a:prstGeom prst="rect">
            <a:avLst/>
          </a:prstGeom>
          <a:noFill/>
          <a:ln cap="flat" cmpd="sng" w="15875">
            <a:solidFill>
              <a:schemeClr val="l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grpSp>
        <p:nvGrpSpPr>
          <p:cNvPr id="70" name="Google Shape;70;p14"/>
          <p:cNvGrpSpPr/>
          <p:nvPr/>
        </p:nvGrpSpPr>
        <p:grpSpPr>
          <a:xfrm>
            <a:off x="0" y="2342723"/>
            <a:ext cx="9173370" cy="494843"/>
            <a:chOff x="-16934" y="3123631"/>
            <a:chExt cx="12231160" cy="659790"/>
          </a:xfrm>
        </p:grpSpPr>
        <p:sp>
          <p:nvSpPr>
            <p:cNvPr id="71" name="Google Shape;71;p14"/>
            <p:cNvSpPr/>
            <p:nvPr/>
          </p:nvSpPr>
          <p:spPr>
            <a:xfrm>
              <a:off x="2430976" y="3123631"/>
              <a:ext cx="45600" cy="658500"/>
            </a:xfrm>
            <a:prstGeom prst="roundRect">
              <a:avLst>
                <a:gd fmla="val 50000" name="adj"/>
              </a:avLst>
            </a:prstGeom>
            <a:solidFill>
              <a:schemeClr val="dk2">
                <a:alpha val="54900"/>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aramond"/>
                <a:ea typeface="Garamond"/>
                <a:cs typeface="Garamond"/>
                <a:sym typeface="Garamond"/>
              </a:endParaRPr>
            </a:p>
          </p:txBody>
        </p:sp>
        <p:pic>
          <p:nvPicPr>
            <p:cNvPr id="72" name="Google Shape;72;p14"/>
            <p:cNvPicPr preferRelativeResize="0"/>
            <p:nvPr/>
          </p:nvPicPr>
          <p:blipFill rotWithShape="1">
            <a:blip r:embed="rId4">
              <a:alphaModFix/>
            </a:blip>
            <a:srcRect b="0" l="0" r="0" t="0"/>
            <a:stretch/>
          </p:blipFill>
          <p:spPr>
            <a:xfrm>
              <a:off x="-16934" y="3145536"/>
              <a:ext cx="2478024" cy="612648"/>
            </a:xfrm>
            <a:prstGeom prst="rect">
              <a:avLst/>
            </a:prstGeom>
            <a:noFill/>
            <a:ln>
              <a:noFill/>
            </a:ln>
          </p:spPr>
        </p:pic>
        <p:sp>
          <p:nvSpPr>
            <p:cNvPr id="73" name="Google Shape;73;p14"/>
            <p:cNvSpPr/>
            <p:nvPr/>
          </p:nvSpPr>
          <p:spPr>
            <a:xfrm>
              <a:off x="9717803" y="3124921"/>
              <a:ext cx="45600" cy="658500"/>
            </a:xfrm>
            <a:prstGeom prst="roundRect">
              <a:avLst>
                <a:gd fmla="val 50000" name="adj"/>
              </a:avLst>
            </a:prstGeom>
            <a:solidFill>
              <a:schemeClr val="dk2">
                <a:alpha val="54900"/>
              </a:scheme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Garamond"/>
                <a:ea typeface="Garamond"/>
                <a:cs typeface="Garamond"/>
                <a:sym typeface="Garamond"/>
              </a:endParaRPr>
            </a:p>
          </p:txBody>
        </p:sp>
        <p:pic>
          <p:nvPicPr>
            <p:cNvPr id="74" name="Google Shape;74;p14"/>
            <p:cNvPicPr preferRelativeResize="0"/>
            <p:nvPr/>
          </p:nvPicPr>
          <p:blipFill rotWithShape="1">
            <a:blip r:embed="rId4">
              <a:alphaModFix/>
            </a:blip>
            <a:srcRect b="0" l="0" r="0" t="0"/>
            <a:stretch/>
          </p:blipFill>
          <p:spPr>
            <a:xfrm>
              <a:off x="9736202" y="3145536"/>
              <a:ext cx="2478024" cy="612648"/>
            </a:xfrm>
            <a:prstGeom prst="rect">
              <a:avLst/>
            </a:prstGeom>
            <a:noFill/>
            <a:ln>
              <a:noFill/>
            </a:ln>
          </p:spPr>
        </p:pic>
      </p:grpSp>
      <p:sp>
        <p:nvSpPr>
          <p:cNvPr id="75" name="Google Shape;75;p14"/>
          <p:cNvSpPr txBox="1"/>
          <p:nvPr>
            <p:ph type="title"/>
          </p:nvPr>
        </p:nvSpPr>
        <p:spPr>
          <a:xfrm>
            <a:off x="2019299" y="1403348"/>
            <a:ext cx="5111700" cy="1136700"/>
          </a:xfrm>
          <a:prstGeom prst="rect">
            <a:avLst/>
          </a:prstGeom>
          <a:noFill/>
          <a:ln>
            <a:noFill/>
          </a:ln>
        </p:spPr>
        <p:txBody>
          <a:bodyPr anchorCtr="0" anchor="b" bIns="34275" lIns="68575" spcFirstLastPara="1" rIns="68575" wrap="square" tIns="34275">
            <a:normAutofit fontScale="90000"/>
          </a:bodyPr>
          <a:lstStyle/>
          <a:p>
            <a:pPr indent="0" lvl="0" marL="0" rtl="0" algn="ctr">
              <a:spcBef>
                <a:spcPts val="0"/>
              </a:spcBef>
              <a:spcAft>
                <a:spcPts val="0"/>
              </a:spcAft>
              <a:buClr>
                <a:schemeClr val="lt1"/>
              </a:buClr>
              <a:buSzPct val="100000"/>
              <a:buFont typeface="Garamond"/>
              <a:buNone/>
            </a:pPr>
            <a:r>
              <a:rPr lang="en" sz="4100">
                <a:solidFill>
                  <a:schemeClr val="lt1"/>
                </a:solidFill>
                <a:latin typeface="Times New Roman"/>
                <a:ea typeface="Times New Roman"/>
                <a:cs typeface="Times New Roman"/>
                <a:sym typeface="Times New Roman"/>
              </a:rPr>
              <a:t>What Works In Education?</a:t>
            </a:r>
            <a:endParaRPr sz="4100">
              <a:solidFill>
                <a:schemeClr val="lt1"/>
              </a:solidFill>
              <a:latin typeface="Times New Roman"/>
              <a:ea typeface="Times New Roman"/>
              <a:cs typeface="Times New Roman"/>
              <a:sym typeface="Times New Roman"/>
            </a:endParaRPr>
          </a:p>
        </p:txBody>
      </p:sp>
      <p:sp>
        <p:nvSpPr>
          <p:cNvPr id="76" name="Google Shape;76;p14"/>
          <p:cNvSpPr txBox="1"/>
          <p:nvPr>
            <p:ph idx="1" type="body"/>
          </p:nvPr>
        </p:nvSpPr>
        <p:spPr>
          <a:xfrm>
            <a:off x="2019299" y="2743198"/>
            <a:ext cx="5111700" cy="990600"/>
          </a:xfrm>
          <a:prstGeom prst="rect">
            <a:avLst/>
          </a:prstGeom>
          <a:noFill/>
          <a:ln>
            <a:noFill/>
          </a:ln>
        </p:spPr>
        <p:txBody>
          <a:bodyPr anchorCtr="0" anchor="t" bIns="34275" lIns="68575" spcFirstLastPara="1" rIns="68575" wrap="square" tIns="34275">
            <a:normAutofit/>
          </a:bodyPr>
          <a:lstStyle/>
          <a:p>
            <a:pPr indent="0" lvl="0" marL="0" rtl="0" algn="ctr">
              <a:spcBef>
                <a:spcPts val="0"/>
              </a:spcBef>
              <a:spcAft>
                <a:spcPts val="0"/>
              </a:spcAft>
              <a:buSzPts val="1800"/>
              <a:buNone/>
            </a:pPr>
            <a:r>
              <a:rPr lang="en" sz="1600">
                <a:solidFill>
                  <a:schemeClr val="lt1"/>
                </a:solidFill>
              </a:rPr>
              <a:t>Empirical findings</a:t>
            </a:r>
            <a:endParaRPr sz="1600">
              <a:solidFill>
                <a:schemeClr val="lt1"/>
              </a:solidFill>
            </a:endParaRPr>
          </a:p>
        </p:txBody>
      </p:sp>
      <p:cxnSp>
        <p:nvCxnSpPr>
          <p:cNvPr id="77" name="Google Shape;77;p14"/>
          <p:cNvCxnSpPr/>
          <p:nvPr/>
        </p:nvCxnSpPr>
        <p:spPr>
          <a:xfrm>
            <a:off x="2019299" y="2641598"/>
            <a:ext cx="5111700" cy="0"/>
          </a:xfrm>
          <a:prstGeom prst="straightConnector1">
            <a:avLst/>
          </a:prstGeom>
          <a:noFill/>
          <a:ln cap="flat" cmpd="sng" w="15875">
            <a:solidFill>
              <a:schemeClr val="lt1"/>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type="title"/>
          </p:nvPr>
        </p:nvSpPr>
        <p:spPr>
          <a:xfrm>
            <a:off x="155850" y="222513"/>
            <a:ext cx="4260300" cy="35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Impact, shorter:</a:t>
            </a:r>
            <a:endParaRPr/>
          </a:p>
        </p:txBody>
      </p:sp>
      <p:sp>
        <p:nvSpPr>
          <p:cNvPr id="83" name="Google Shape;83;p15"/>
          <p:cNvSpPr txBox="1"/>
          <p:nvPr/>
        </p:nvSpPr>
        <p:spPr>
          <a:xfrm>
            <a:off x="421650" y="1913450"/>
            <a:ext cx="4449600" cy="3185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Open Sans"/>
              <a:buChar char="●"/>
            </a:pPr>
            <a:r>
              <a:rPr b="1" i="1" lang="en" sz="1600">
                <a:solidFill>
                  <a:schemeClr val="dk2"/>
                </a:solidFill>
                <a:latin typeface="Open Sans"/>
                <a:ea typeface="Open Sans"/>
                <a:cs typeface="Open Sans"/>
                <a:sym typeface="Open Sans"/>
              </a:rPr>
              <a:t>Teacher-provided feedback to students</a:t>
            </a:r>
            <a:endParaRPr b="1" i="1"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a:solidFill>
                  <a:schemeClr val="dk2"/>
                </a:solidFill>
                <a:latin typeface="Open Sans"/>
                <a:ea typeface="Open Sans"/>
                <a:cs typeface="Open Sans"/>
                <a:sym typeface="Open Sans"/>
              </a:rPr>
              <a:t>Class size reduction (CSR)</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b="1" i="1" lang="en" sz="1600">
                <a:solidFill>
                  <a:schemeClr val="dk2"/>
                </a:solidFill>
                <a:latin typeface="Open Sans"/>
                <a:ea typeface="Open Sans"/>
                <a:cs typeface="Open Sans"/>
                <a:sym typeface="Open Sans"/>
              </a:rPr>
              <a:t>Highlighting a text</a:t>
            </a:r>
            <a:endParaRPr b="1" i="1"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a:solidFill>
                  <a:schemeClr val="dk2"/>
                </a:solidFill>
                <a:latin typeface="Open Sans"/>
                <a:ea typeface="Open Sans"/>
                <a:cs typeface="Open Sans"/>
                <a:sym typeface="Open Sans"/>
              </a:rPr>
              <a:t>Praxis</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a:solidFill>
                  <a:schemeClr val="dk2"/>
                </a:solidFill>
                <a:latin typeface="Open Sans"/>
                <a:ea typeface="Open Sans"/>
                <a:cs typeface="Open Sans"/>
                <a:sym typeface="Open Sans"/>
              </a:rPr>
              <a:t>Getting a master’s degree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b="1" i="1" lang="en" sz="1600">
                <a:solidFill>
                  <a:schemeClr val="dk2"/>
                </a:solidFill>
                <a:latin typeface="Open Sans"/>
                <a:ea typeface="Open Sans"/>
                <a:cs typeface="Open Sans"/>
                <a:sym typeface="Open Sans"/>
              </a:rPr>
              <a:t>Jigsaw</a:t>
            </a:r>
            <a:endParaRPr b="1" i="1"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a:solidFill>
                  <a:schemeClr val="dk2"/>
                </a:solidFill>
                <a:latin typeface="Open Sans"/>
                <a:ea typeface="Open Sans"/>
                <a:cs typeface="Open Sans"/>
                <a:sym typeface="Open Sans"/>
              </a:rPr>
              <a:t>Universal PreK</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b="1" i="1" lang="en" sz="1600">
                <a:solidFill>
                  <a:schemeClr val="dk2"/>
                </a:solidFill>
                <a:latin typeface="Open Sans"/>
                <a:ea typeface="Open Sans"/>
                <a:cs typeface="Open Sans"/>
                <a:sym typeface="Open Sans"/>
              </a:rPr>
              <a:t>Matching learning styles</a:t>
            </a:r>
            <a:endParaRPr b="1" i="1"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b="1" i="1" lang="en" sz="1600">
                <a:solidFill>
                  <a:schemeClr val="dk2"/>
                </a:solidFill>
                <a:latin typeface="Open Sans"/>
                <a:ea typeface="Open Sans"/>
                <a:cs typeface="Open Sans"/>
                <a:sym typeface="Open Sans"/>
              </a:rPr>
              <a:t>Students teach students</a:t>
            </a:r>
            <a:endParaRPr b="1" i="1" sz="1600">
              <a:solidFill>
                <a:schemeClr val="dk2"/>
              </a:solidFill>
              <a:latin typeface="Open Sans"/>
              <a:ea typeface="Open Sans"/>
              <a:cs typeface="Open Sans"/>
              <a:sym typeface="Open Sans"/>
            </a:endParaRPr>
          </a:p>
          <a:p>
            <a:pPr indent="0" lvl="0" marL="457200" rtl="0" algn="l">
              <a:lnSpc>
                <a:spcPct val="115000"/>
              </a:lnSpc>
              <a:spcBef>
                <a:spcPts val="1600"/>
              </a:spcBef>
              <a:spcAft>
                <a:spcPts val="1600"/>
              </a:spcAft>
              <a:buNone/>
            </a:pPr>
            <a:r>
              <a:t/>
            </a:r>
            <a:endParaRPr b="1" i="1" sz="1600">
              <a:solidFill>
                <a:schemeClr val="dk2"/>
              </a:solidFill>
              <a:latin typeface="Open Sans"/>
              <a:ea typeface="Open Sans"/>
              <a:cs typeface="Open Sans"/>
              <a:sym typeface="Open Sans"/>
            </a:endParaRPr>
          </a:p>
        </p:txBody>
      </p:sp>
      <p:sp>
        <p:nvSpPr>
          <p:cNvPr id="84" name="Google Shape;84;p15"/>
          <p:cNvSpPr txBox="1"/>
          <p:nvPr/>
        </p:nvSpPr>
        <p:spPr>
          <a:xfrm>
            <a:off x="4871175" y="1868625"/>
            <a:ext cx="4139700" cy="26967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Open Sans"/>
              <a:buChar char="●"/>
            </a:pPr>
            <a:r>
              <a:rPr lang="en" sz="1600">
                <a:solidFill>
                  <a:schemeClr val="dk2"/>
                </a:solidFill>
                <a:latin typeface="Open Sans"/>
                <a:ea typeface="Open Sans"/>
                <a:cs typeface="Open Sans"/>
                <a:sym typeface="Open Sans"/>
              </a:rPr>
              <a:t>School funding</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b="1" i="1" lang="en" sz="1600">
                <a:solidFill>
                  <a:schemeClr val="dk2"/>
                </a:solidFill>
                <a:latin typeface="Open Sans"/>
                <a:ea typeface="Open Sans"/>
                <a:cs typeface="Open Sans"/>
                <a:sym typeface="Open Sans"/>
              </a:rPr>
              <a:t>Metacognition</a:t>
            </a:r>
            <a:endParaRPr b="1" i="1"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a:solidFill>
                  <a:schemeClr val="dk2"/>
                </a:solidFill>
                <a:latin typeface="Open Sans"/>
                <a:ea typeface="Open Sans"/>
                <a:cs typeface="Open Sans"/>
                <a:sym typeface="Open Sans"/>
              </a:rPr>
              <a:t>Teacher effectiveness</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b="1" i="1" lang="en" sz="1600">
                <a:solidFill>
                  <a:schemeClr val="dk2"/>
                </a:solidFill>
                <a:latin typeface="Open Sans"/>
                <a:ea typeface="Open Sans"/>
                <a:cs typeface="Open Sans"/>
                <a:sym typeface="Open Sans"/>
              </a:rPr>
              <a:t>Round robin reading</a:t>
            </a:r>
            <a:endParaRPr b="1"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a:solidFill>
                  <a:schemeClr val="dk2"/>
                </a:solidFill>
                <a:latin typeface="Open Sans"/>
                <a:ea typeface="Open Sans"/>
                <a:cs typeface="Open Sans"/>
                <a:sym typeface="Open Sans"/>
              </a:rPr>
              <a:t>Professional development</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b="1" i="1" lang="en" sz="1600">
                <a:solidFill>
                  <a:schemeClr val="dk2"/>
                </a:solidFill>
                <a:latin typeface="Open Sans"/>
                <a:ea typeface="Open Sans"/>
                <a:cs typeface="Open Sans"/>
                <a:sym typeface="Open Sans"/>
              </a:rPr>
              <a:t>Picture synthesis</a:t>
            </a:r>
            <a:endParaRPr b="1" i="1"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a:solidFill>
                  <a:schemeClr val="dk2"/>
                </a:solidFill>
                <a:latin typeface="Open Sans"/>
                <a:ea typeface="Open Sans"/>
                <a:cs typeface="Open Sans"/>
                <a:sym typeface="Open Sans"/>
              </a:rPr>
              <a:t>Teacher Pay</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a:solidFill>
                  <a:schemeClr val="dk2"/>
                </a:solidFill>
                <a:latin typeface="Open Sans"/>
                <a:ea typeface="Open Sans"/>
                <a:cs typeface="Open Sans"/>
                <a:sym typeface="Open Sans"/>
              </a:rPr>
              <a:t>No Excuses Charters</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b="1" i="1" lang="en" sz="1600">
                <a:solidFill>
                  <a:schemeClr val="dk2"/>
                </a:solidFill>
                <a:latin typeface="Open Sans"/>
                <a:ea typeface="Open Sans"/>
                <a:cs typeface="Open Sans"/>
                <a:sym typeface="Open Sans"/>
              </a:rPr>
              <a:t>Rereading (for memory)</a:t>
            </a:r>
            <a:endParaRPr b="1" i="1" sz="1600">
              <a:solidFill>
                <a:schemeClr val="dk2"/>
              </a:solidFill>
              <a:latin typeface="Open Sans"/>
              <a:ea typeface="Open Sans"/>
              <a:cs typeface="Open Sans"/>
              <a:sym typeface="Open Sans"/>
            </a:endParaRPr>
          </a:p>
        </p:txBody>
      </p:sp>
      <p:sp>
        <p:nvSpPr>
          <p:cNvPr id="85" name="Google Shape;85;p15"/>
          <p:cNvSpPr txBox="1"/>
          <p:nvPr/>
        </p:nvSpPr>
        <p:spPr>
          <a:xfrm>
            <a:off x="0" y="4897200"/>
            <a:ext cx="627000" cy="2463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lang="en" sz="1000">
                <a:solidFill>
                  <a:schemeClr val="dk1"/>
                </a:solidFill>
                <a:latin typeface="Calibri"/>
                <a:ea typeface="Calibri"/>
                <a:cs typeface="Calibri"/>
                <a:sym typeface="Calibri"/>
              </a:rPr>
              <a:t>Practice</a:t>
            </a:r>
            <a:endParaRPr sz="1000"/>
          </a:p>
        </p:txBody>
      </p:sp>
      <p:sp>
        <p:nvSpPr>
          <p:cNvPr id="86" name="Google Shape;86;p15"/>
          <p:cNvSpPr txBox="1"/>
          <p:nvPr/>
        </p:nvSpPr>
        <p:spPr>
          <a:xfrm>
            <a:off x="708425" y="4565325"/>
            <a:ext cx="7921500" cy="54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Open Sans"/>
                <a:ea typeface="Open Sans"/>
                <a:cs typeface="Open Sans"/>
                <a:sym typeface="Open Sans"/>
              </a:rPr>
              <a:t>Note: </a:t>
            </a:r>
            <a:r>
              <a:rPr i="1" lang="en" sz="1800">
                <a:solidFill>
                  <a:schemeClr val="dk2"/>
                </a:solidFill>
                <a:latin typeface="Open Sans"/>
                <a:ea typeface="Open Sans"/>
                <a:cs typeface="Open Sans"/>
                <a:sym typeface="Open Sans"/>
              </a:rPr>
              <a:t>Italicized are </a:t>
            </a:r>
            <a:r>
              <a:rPr lang="en" sz="1800">
                <a:solidFill>
                  <a:schemeClr val="dk2"/>
                </a:solidFill>
                <a:latin typeface="Open Sans"/>
                <a:ea typeface="Open Sans"/>
                <a:cs typeface="Open Sans"/>
                <a:sym typeface="Open Sans"/>
              </a:rPr>
              <a:t>learning strategies. Regular text are policies.</a:t>
            </a:r>
            <a:endParaRPr sz="1800">
              <a:solidFill>
                <a:schemeClr val="dk2"/>
              </a:solidFill>
              <a:latin typeface="Open Sans"/>
              <a:ea typeface="Open Sans"/>
              <a:cs typeface="Open Sans"/>
              <a:sym typeface="Open Sans"/>
            </a:endParaRPr>
          </a:p>
        </p:txBody>
      </p:sp>
      <p:sp>
        <p:nvSpPr>
          <p:cNvPr id="87" name="Google Shape;87;p15"/>
          <p:cNvSpPr txBox="1"/>
          <p:nvPr>
            <p:ph idx="1" type="body"/>
          </p:nvPr>
        </p:nvSpPr>
        <p:spPr>
          <a:xfrm>
            <a:off x="311700" y="1266325"/>
            <a:ext cx="8520600" cy="48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275"/>
              <a:buNone/>
            </a:pPr>
            <a:r>
              <a:rPr lang="en" sz="1750"/>
              <a:t>None: SQUAT. 				Small: SIT.				Large: STAND</a:t>
            </a:r>
            <a:endParaRPr sz="1750"/>
          </a:p>
          <a:p>
            <a:pPr indent="0" lvl="0" marL="0" rtl="0" algn="l">
              <a:spcBef>
                <a:spcPts val="1200"/>
              </a:spcBef>
              <a:spcAft>
                <a:spcPts val="1200"/>
              </a:spcAft>
              <a:buSzPts val="275"/>
              <a:buNone/>
            </a:pPr>
            <a:r>
              <a:t/>
            </a:r>
            <a:endParaRPr sz="175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0" st="0"/>
                                            </p:txEl>
                                          </p:spTgt>
                                        </p:tgtEl>
                                        <p:attrNameLst>
                                          <p:attrName>style.visibility</p:attrName>
                                        </p:attrNameLst>
                                      </p:cBhvr>
                                      <p:to>
                                        <p:strVal val="visible"/>
                                      </p:to>
                                    </p:set>
                                    <p:animEffect filter="fade" transition="in">
                                      <p:cBhvr>
                                        <p:cTn dur="1000"/>
                                        <p:tgtEl>
                                          <p:spTgt spid="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1" st="1"/>
                                            </p:txEl>
                                          </p:spTgt>
                                        </p:tgtEl>
                                        <p:attrNameLst>
                                          <p:attrName>style.visibility</p:attrName>
                                        </p:attrNameLst>
                                      </p:cBhvr>
                                      <p:to>
                                        <p:strVal val="visible"/>
                                      </p:to>
                                    </p:set>
                                    <p:animEffect filter="fade" transition="in">
                                      <p:cBhvr>
                                        <p:cTn dur="1000"/>
                                        <p:tgtEl>
                                          <p:spTgt spid="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2" st="2"/>
                                            </p:txEl>
                                          </p:spTgt>
                                        </p:tgtEl>
                                        <p:attrNameLst>
                                          <p:attrName>style.visibility</p:attrName>
                                        </p:attrNameLst>
                                      </p:cBhvr>
                                      <p:to>
                                        <p:strVal val="visible"/>
                                      </p:to>
                                    </p:set>
                                    <p:animEffect filter="fade" transition="in">
                                      <p:cBhvr>
                                        <p:cTn dur="1000"/>
                                        <p:tgtEl>
                                          <p:spTgt spid="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3" st="3"/>
                                            </p:txEl>
                                          </p:spTgt>
                                        </p:tgtEl>
                                        <p:attrNameLst>
                                          <p:attrName>style.visibility</p:attrName>
                                        </p:attrNameLst>
                                      </p:cBhvr>
                                      <p:to>
                                        <p:strVal val="visible"/>
                                      </p:to>
                                    </p:set>
                                    <p:animEffect filter="fade" transition="in">
                                      <p:cBhvr>
                                        <p:cTn dur="1000"/>
                                        <p:tgtEl>
                                          <p:spTgt spid="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4" st="4"/>
                                            </p:txEl>
                                          </p:spTgt>
                                        </p:tgtEl>
                                        <p:attrNameLst>
                                          <p:attrName>style.visibility</p:attrName>
                                        </p:attrNameLst>
                                      </p:cBhvr>
                                      <p:to>
                                        <p:strVal val="visible"/>
                                      </p:to>
                                    </p:set>
                                    <p:animEffect filter="fade" transition="in">
                                      <p:cBhvr>
                                        <p:cTn dur="1000"/>
                                        <p:tgtEl>
                                          <p:spTgt spid="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5" st="5"/>
                                            </p:txEl>
                                          </p:spTgt>
                                        </p:tgtEl>
                                        <p:attrNameLst>
                                          <p:attrName>style.visibility</p:attrName>
                                        </p:attrNameLst>
                                      </p:cBhvr>
                                      <p:to>
                                        <p:strVal val="visible"/>
                                      </p:to>
                                    </p:set>
                                    <p:animEffect filter="fade" transition="in">
                                      <p:cBhvr>
                                        <p:cTn dur="1000"/>
                                        <p:tgtEl>
                                          <p:spTgt spid="8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6" st="6"/>
                                            </p:txEl>
                                          </p:spTgt>
                                        </p:tgtEl>
                                        <p:attrNameLst>
                                          <p:attrName>style.visibility</p:attrName>
                                        </p:attrNameLst>
                                      </p:cBhvr>
                                      <p:to>
                                        <p:strVal val="visible"/>
                                      </p:to>
                                    </p:set>
                                    <p:animEffect filter="fade" transition="in">
                                      <p:cBhvr>
                                        <p:cTn dur="1000"/>
                                        <p:tgtEl>
                                          <p:spTgt spid="8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7" st="7"/>
                                            </p:txEl>
                                          </p:spTgt>
                                        </p:tgtEl>
                                        <p:attrNameLst>
                                          <p:attrName>style.visibility</p:attrName>
                                        </p:attrNameLst>
                                      </p:cBhvr>
                                      <p:to>
                                        <p:strVal val="visible"/>
                                      </p:to>
                                    </p:set>
                                    <p:animEffect filter="fade" transition="in">
                                      <p:cBhvr>
                                        <p:cTn dur="1000"/>
                                        <p:tgtEl>
                                          <p:spTgt spid="8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8" st="8"/>
                                            </p:txEl>
                                          </p:spTgt>
                                        </p:tgtEl>
                                        <p:attrNameLst>
                                          <p:attrName>style.visibility</p:attrName>
                                        </p:attrNameLst>
                                      </p:cBhvr>
                                      <p:to>
                                        <p:strVal val="visible"/>
                                      </p:to>
                                    </p:set>
                                    <p:animEffect filter="fade" transition="in">
                                      <p:cBhvr>
                                        <p:cTn dur="1000"/>
                                        <p:tgtEl>
                                          <p:spTgt spid="8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
                                            <p:txEl>
                                              <p:pRg end="9" st="9"/>
                                            </p:txEl>
                                          </p:spTgt>
                                        </p:tgtEl>
                                        <p:attrNameLst>
                                          <p:attrName>style.visibility</p:attrName>
                                        </p:attrNameLst>
                                      </p:cBhvr>
                                      <p:to>
                                        <p:strVal val="visible"/>
                                      </p:to>
                                    </p:set>
                                    <p:animEffect filter="fade" transition="in">
                                      <p:cBhvr>
                                        <p:cTn dur="1000"/>
                                        <p:tgtEl>
                                          <p:spTgt spid="8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0" st="0"/>
                                            </p:txEl>
                                          </p:spTgt>
                                        </p:tgtEl>
                                        <p:attrNameLst>
                                          <p:attrName>style.visibility</p:attrName>
                                        </p:attrNameLst>
                                      </p:cBhvr>
                                      <p:to>
                                        <p:strVal val="visible"/>
                                      </p:to>
                                    </p:set>
                                    <p:animEffect filter="fade" transition="in">
                                      <p:cBhvr>
                                        <p:cTn dur="1000"/>
                                        <p:tgtEl>
                                          <p:spTgt spid="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1" st="1"/>
                                            </p:txEl>
                                          </p:spTgt>
                                        </p:tgtEl>
                                        <p:attrNameLst>
                                          <p:attrName>style.visibility</p:attrName>
                                        </p:attrNameLst>
                                      </p:cBhvr>
                                      <p:to>
                                        <p:strVal val="visible"/>
                                      </p:to>
                                    </p:set>
                                    <p:animEffect filter="fade" transition="in">
                                      <p:cBhvr>
                                        <p:cTn dur="1000"/>
                                        <p:tgtEl>
                                          <p:spTgt spid="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2" st="2"/>
                                            </p:txEl>
                                          </p:spTgt>
                                        </p:tgtEl>
                                        <p:attrNameLst>
                                          <p:attrName>style.visibility</p:attrName>
                                        </p:attrNameLst>
                                      </p:cBhvr>
                                      <p:to>
                                        <p:strVal val="visible"/>
                                      </p:to>
                                    </p:set>
                                    <p:animEffect filter="fade" transition="in">
                                      <p:cBhvr>
                                        <p:cTn dur="1000"/>
                                        <p:tgtEl>
                                          <p:spTgt spid="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3" st="3"/>
                                            </p:txEl>
                                          </p:spTgt>
                                        </p:tgtEl>
                                        <p:attrNameLst>
                                          <p:attrName>style.visibility</p:attrName>
                                        </p:attrNameLst>
                                      </p:cBhvr>
                                      <p:to>
                                        <p:strVal val="visible"/>
                                      </p:to>
                                    </p:set>
                                    <p:animEffect filter="fade" transition="in">
                                      <p:cBhvr>
                                        <p:cTn dur="1000"/>
                                        <p:tgtEl>
                                          <p:spTgt spid="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4" st="4"/>
                                            </p:txEl>
                                          </p:spTgt>
                                        </p:tgtEl>
                                        <p:attrNameLst>
                                          <p:attrName>style.visibility</p:attrName>
                                        </p:attrNameLst>
                                      </p:cBhvr>
                                      <p:to>
                                        <p:strVal val="visible"/>
                                      </p:to>
                                    </p:set>
                                    <p:animEffect filter="fade" transition="in">
                                      <p:cBhvr>
                                        <p:cTn dur="1000"/>
                                        <p:tgtEl>
                                          <p:spTgt spid="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5" st="5"/>
                                            </p:txEl>
                                          </p:spTgt>
                                        </p:tgtEl>
                                        <p:attrNameLst>
                                          <p:attrName>style.visibility</p:attrName>
                                        </p:attrNameLst>
                                      </p:cBhvr>
                                      <p:to>
                                        <p:strVal val="visible"/>
                                      </p:to>
                                    </p:set>
                                    <p:animEffect filter="fade" transition="in">
                                      <p:cBhvr>
                                        <p:cTn dur="1000"/>
                                        <p:tgtEl>
                                          <p:spTgt spid="8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6" st="6"/>
                                            </p:txEl>
                                          </p:spTgt>
                                        </p:tgtEl>
                                        <p:attrNameLst>
                                          <p:attrName>style.visibility</p:attrName>
                                        </p:attrNameLst>
                                      </p:cBhvr>
                                      <p:to>
                                        <p:strVal val="visible"/>
                                      </p:to>
                                    </p:set>
                                    <p:animEffect filter="fade" transition="in">
                                      <p:cBhvr>
                                        <p:cTn dur="1000"/>
                                        <p:tgtEl>
                                          <p:spTgt spid="8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7" st="7"/>
                                            </p:txEl>
                                          </p:spTgt>
                                        </p:tgtEl>
                                        <p:attrNameLst>
                                          <p:attrName>style.visibility</p:attrName>
                                        </p:attrNameLst>
                                      </p:cBhvr>
                                      <p:to>
                                        <p:strVal val="visible"/>
                                      </p:to>
                                    </p:set>
                                    <p:animEffect filter="fade" transition="in">
                                      <p:cBhvr>
                                        <p:cTn dur="1000"/>
                                        <p:tgtEl>
                                          <p:spTgt spid="8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8" st="8"/>
                                            </p:txEl>
                                          </p:spTgt>
                                        </p:tgtEl>
                                        <p:attrNameLst>
                                          <p:attrName>style.visibility</p:attrName>
                                        </p:attrNameLst>
                                      </p:cBhvr>
                                      <p:to>
                                        <p:strVal val="visible"/>
                                      </p:to>
                                    </p:set>
                                    <p:animEffect filter="fade" transition="in">
                                      <p:cBhvr>
                                        <p:cTn dur="1000"/>
                                        <p:tgtEl>
                                          <p:spTgt spid="8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6"/>
          <p:cNvSpPr txBox="1"/>
          <p:nvPr>
            <p:ph type="title"/>
          </p:nvPr>
        </p:nvSpPr>
        <p:spPr>
          <a:xfrm>
            <a:off x="155850" y="222513"/>
            <a:ext cx="4260300" cy="35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Impact, shorter:</a:t>
            </a:r>
            <a:endParaRPr/>
          </a:p>
        </p:txBody>
      </p:sp>
      <p:sp>
        <p:nvSpPr>
          <p:cNvPr id="93" name="Google Shape;93;p16"/>
          <p:cNvSpPr txBox="1"/>
          <p:nvPr/>
        </p:nvSpPr>
        <p:spPr>
          <a:xfrm>
            <a:off x="421650" y="1913450"/>
            <a:ext cx="4449600" cy="3185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Open Sans"/>
              <a:buChar char="●"/>
            </a:pPr>
            <a:r>
              <a:rPr b="1" i="1" lang="en" sz="1600" u="sng">
                <a:solidFill>
                  <a:schemeClr val="hlink"/>
                </a:solidFill>
                <a:latin typeface="Open Sans"/>
                <a:ea typeface="Open Sans"/>
                <a:cs typeface="Open Sans"/>
                <a:sym typeface="Open Sans"/>
                <a:hlinkClick r:id="rId3"/>
              </a:rPr>
              <a:t>Feedback to students</a:t>
            </a:r>
            <a:r>
              <a:rPr b="1" i="1" lang="en" sz="1600">
                <a:solidFill>
                  <a:schemeClr val="dk2"/>
                </a:solidFill>
                <a:latin typeface="Open Sans"/>
                <a:ea typeface="Open Sans"/>
                <a:cs typeface="Open Sans"/>
                <a:sym typeface="Open Sans"/>
              </a:rPr>
              <a:t> </a:t>
            </a:r>
            <a:r>
              <a:rPr lang="en" sz="1600">
                <a:solidFill>
                  <a:schemeClr val="dk2"/>
                </a:solidFill>
                <a:latin typeface="Open Sans"/>
                <a:ea typeface="Open Sans"/>
                <a:cs typeface="Open Sans"/>
                <a:sym typeface="Open Sans"/>
              </a:rPr>
              <a:t>(LARGE)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4">
                  <a:extLst>
                    <a:ext uri="{A12FA001-AC4F-418D-AE19-62706E023703}">
                      <ahyp:hlinkClr val="tx"/>
                    </a:ext>
                  </a:extLst>
                </a:hlinkClick>
              </a:rPr>
              <a:t>Class size reduction (CSR)</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b="1" i="1" lang="en" sz="1600" u="sng">
                <a:solidFill>
                  <a:schemeClr val="hlink"/>
                </a:solidFill>
                <a:latin typeface="Open Sans"/>
                <a:ea typeface="Open Sans"/>
                <a:cs typeface="Open Sans"/>
                <a:sym typeface="Open Sans"/>
                <a:hlinkClick r:id="rId5"/>
              </a:rPr>
              <a:t>Highlighting a text</a:t>
            </a:r>
            <a:r>
              <a:rPr b="1" i="1" lang="en" sz="1600">
                <a:solidFill>
                  <a:schemeClr val="dk2"/>
                </a:solidFill>
                <a:latin typeface="Open Sans"/>
                <a:ea typeface="Open Sans"/>
                <a:cs typeface="Open Sans"/>
                <a:sym typeface="Open Sans"/>
              </a:rPr>
              <a:t> </a:t>
            </a:r>
            <a:r>
              <a:rPr lang="en" sz="1600">
                <a:solidFill>
                  <a:schemeClr val="dk2"/>
                </a:solidFill>
                <a:latin typeface="Open Sans"/>
                <a:ea typeface="Open Sans"/>
                <a:cs typeface="Open Sans"/>
                <a:sym typeface="Open Sans"/>
              </a:rPr>
              <a:t>(NONE)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6">
                  <a:extLst>
                    <a:ext uri="{A12FA001-AC4F-418D-AE19-62706E023703}">
                      <ahyp:hlinkClr val="tx"/>
                    </a:ext>
                  </a:extLst>
                </a:hlinkClick>
              </a:rPr>
              <a:t>Praxis</a:t>
            </a:r>
            <a:r>
              <a:rPr lang="en" sz="1600">
                <a:solidFill>
                  <a:schemeClr val="dk2"/>
                </a:solidFill>
                <a:latin typeface="Open Sans"/>
                <a:ea typeface="Open Sans"/>
                <a:cs typeface="Open Sans"/>
                <a:sym typeface="Open Sans"/>
              </a:rPr>
              <a:t> (NONE*) </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7">
                  <a:extLst>
                    <a:ext uri="{A12FA001-AC4F-418D-AE19-62706E023703}">
                      <ahyp:hlinkClr val="tx"/>
                    </a:ext>
                  </a:extLst>
                </a:hlinkClick>
              </a:rPr>
              <a:t>Getting a master’s degree</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b="1" i="1" lang="en" sz="1600" u="sng">
                <a:solidFill>
                  <a:schemeClr val="hlink"/>
                </a:solidFill>
                <a:latin typeface="Open Sans"/>
                <a:ea typeface="Open Sans"/>
                <a:cs typeface="Open Sans"/>
                <a:sym typeface="Open Sans"/>
                <a:hlinkClick r:id="rId8"/>
              </a:rPr>
              <a:t>Jigsaw</a:t>
            </a:r>
            <a:r>
              <a:rPr b="1" i="1" lang="en" sz="1600">
                <a:solidFill>
                  <a:schemeClr val="dk2"/>
                </a:solidFill>
                <a:latin typeface="Open Sans"/>
                <a:ea typeface="Open Sans"/>
                <a:cs typeface="Open Sans"/>
                <a:sym typeface="Open Sans"/>
              </a:rPr>
              <a:t> </a:t>
            </a:r>
            <a:r>
              <a:rPr lang="en" sz="1600">
                <a:solidFill>
                  <a:schemeClr val="dk2"/>
                </a:solidFill>
                <a:latin typeface="Open Sans"/>
                <a:ea typeface="Open Sans"/>
                <a:cs typeface="Open Sans"/>
                <a:sym typeface="Open Sans"/>
              </a:rPr>
              <a:t>(LARGE)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9">
                  <a:extLst>
                    <a:ext uri="{A12FA001-AC4F-418D-AE19-62706E023703}">
                      <ahyp:hlinkClr val="tx"/>
                    </a:ext>
                  </a:extLst>
                </a:hlinkClick>
              </a:rPr>
              <a:t>Universal PreK</a:t>
            </a:r>
            <a:r>
              <a:rPr lang="en" sz="1600">
                <a:solidFill>
                  <a:schemeClr val="dk2"/>
                </a:solidFill>
                <a:latin typeface="Open Sans"/>
                <a:ea typeface="Open Sans"/>
                <a:cs typeface="Open Sans"/>
                <a:sym typeface="Open Sans"/>
              </a:rPr>
              <a:t> (NEGATIVE)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10">
                  <a:extLst>
                    <a:ext uri="{A12FA001-AC4F-418D-AE19-62706E023703}">
                      <ahyp:hlinkClr val="tx"/>
                    </a:ext>
                  </a:extLst>
                </a:hlinkClick>
              </a:rPr>
              <a:t>Matching learning styles</a:t>
            </a:r>
            <a:r>
              <a:rPr lang="en" sz="1600">
                <a:solidFill>
                  <a:schemeClr val="dk2"/>
                </a:solidFill>
                <a:latin typeface="Open Sans"/>
                <a:ea typeface="Open Sans"/>
                <a:cs typeface="Open Sans"/>
                <a:sym typeface="Open Sans"/>
              </a:rPr>
              <a:t> (NONE)</a:t>
            </a:r>
            <a:endParaRPr b="1" i="1"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b="1" i="1" lang="en" sz="1600" u="sng">
                <a:solidFill>
                  <a:schemeClr val="hlink"/>
                </a:solidFill>
                <a:latin typeface="Open Sans"/>
                <a:ea typeface="Open Sans"/>
                <a:cs typeface="Open Sans"/>
                <a:sym typeface="Open Sans"/>
                <a:hlinkClick r:id="rId11"/>
              </a:rPr>
              <a:t>Students teach students</a:t>
            </a:r>
            <a:r>
              <a:rPr b="1" i="1" lang="en" sz="1600">
                <a:solidFill>
                  <a:schemeClr val="dk2"/>
                </a:solidFill>
                <a:latin typeface="Open Sans"/>
                <a:ea typeface="Open Sans"/>
                <a:cs typeface="Open Sans"/>
                <a:sym typeface="Open Sans"/>
              </a:rPr>
              <a:t> </a:t>
            </a:r>
            <a:r>
              <a:rPr lang="en" sz="1600">
                <a:solidFill>
                  <a:schemeClr val="dk2"/>
                </a:solidFill>
                <a:latin typeface="Open Sans"/>
                <a:ea typeface="Open Sans"/>
                <a:cs typeface="Open Sans"/>
                <a:sym typeface="Open Sans"/>
              </a:rPr>
              <a:t>(LARGE)</a:t>
            </a:r>
            <a:endParaRPr sz="1600">
              <a:solidFill>
                <a:schemeClr val="dk2"/>
              </a:solidFill>
              <a:latin typeface="Open Sans"/>
              <a:ea typeface="Open Sans"/>
              <a:cs typeface="Open Sans"/>
              <a:sym typeface="Open Sans"/>
            </a:endParaRPr>
          </a:p>
          <a:p>
            <a:pPr indent="0" lvl="0" marL="457200" rtl="0" algn="l">
              <a:lnSpc>
                <a:spcPct val="115000"/>
              </a:lnSpc>
              <a:spcBef>
                <a:spcPts val="1600"/>
              </a:spcBef>
              <a:spcAft>
                <a:spcPts val="1600"/>
              </a:spcAft>
              <a:buNone/>
            </a:pPr>
            <a:r>
              <a:t/>
            </a:r>
            <a:endParaRPr b="1" i="1" sz="1600">
              <a:solidFill>
                <a:schemeClr val="dk2"/>
              </a:solidFill>
              <a:latin typeface="Open Sans"/>
              <a:ea typeface="Open Sans"/>
              <a:cs typeface="Open Sans"/>
              <a:sym typeface="Open Sans"/>
            </a:endParaRPr>
          </a:p>
        </p:txBody>
      </p:sp>
      <p:sp>
        <p:nvSpPr>
          <p:cNvPr id="94" name="Google Shape;94;p16"/>
          <p:cNvSpPr txBox="1"/>
          <p:nvPr/>
        </p:nvSpPr>
        <p:spPr>
          <a:xfrm>
            <a:off x="4871175" y="1868625"/>
            <a:ext cx="4139700" cy="26967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12">
                  <a:extLst>
                    <a:ext uri="{A12FA001-AC4F-418D-AE19-62706E023703}">
                      <ahyp:hlinkClr val="tx"/>
                    </a:ext>
                  </a:extLst>
                </a:hlinkClick>
              </a:rPr>
              <a:t>School funding</a:t>
            </a:r>
            <a:r>
              <a:rPr lang="en" sz="1600">
                <a:solidFill>
                  <a:schemeClr val="dk2"/>
                </a:solidFill>
                <a:latin typeface="Open Sans"/>
                <a:ea typeface="Open Sans"/>
                <a:cs typeface="Open Sans"/>
                <a:sym typeface="Open Sans"/>
              </a:rPr>
              <a:t>*** (NONE) </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b="1" i="1" lang="en" sz="1600" u="sng">
                <a:solidFill>
                  <a:schemeClr val="hlink"/>
                </a:solidFill>
                <a:latin typeface="Open Sans"/>
                <a:ea typeface="Open Sans"/>
                <a:cs typeface="Open Sans"/>
                <a:sym typeface="Open Sans"/>
                <a:hlinkClick r:id="rId13"/>
              </a:rPr>
              <a:t>Metacognition </a:t>
            </a:r>
            <a:r>
              <a:rPr lang="en" sz="1600">
                <a:solidFill>
                  <a:schemeClr val="dk2"/>
                </a:solidFill>
                <a:latin typeface="Open Sans"/>
                <a:ea typeface="Open Sans"/>
                <a:cs typeface="Open Sans"/>
                <a:sym typeface="Open Sans"/>
              </a:rPr>
              <a:t>(LARGE)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14">
                  <a:extLst>
                    <a:ext uri="{A12FA001-AC4F-418D-AE19-62706E023703}">
                      <ahyp:hlinkClr val="tx"/>
                    </a:ext>
                  </a:extLst>
                </a:hlinkClick>
              </a:rPr>
              <a:t>Teacher effectiveness</a:t>
            </a:r>
            <a:r>
              <a:rPr lang="en" sz="1600">
                <a:solidFill>
                  <a:schemeClr val="dk2"/>
                </a:solidFill>
                <a:latin typeface="Open Sans"/>
                <a:ea typeface="Open Sans"/>
                <a:cs typeface="Open Sans"/>
                <a:sym typeface="Open Sans"/>
              </a:rPr>
              <a:t> (LARGE)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b="1" i="1" lang="en" sz="1600" u="sng">
                <a:solidFill>
                  <a:schemeClr val="hlink"/>
                </a:solidFill>
                <a:latin typeface="Open Sans"/>
                <a:ea typeface="Open Sans"/>
                <a:cs typeface="Open Sans"/>
                <a:sym typeface="Open Sans"/>
                <a:hlinkClick r:id="rId15"/>
              </a:rPr>
              <a:t>Round robin reading 1</a:t>
            </a:r>
            <a:r>
              <a:rPr b="1" i="1" lang="en" sz="1600">
                <a:solidFill>
                  <a:schemeClr val="dk2"/>
                </a:solidFill>
                <a:latin typeface="Open Sans"/>
                <a:ea typeface="Open Sans"/>
                <a:cs typeface="Open Sans"/>
                <a:sym typeface="Open Sans"/>
              </a:rPr>
              <a:t>  &amp; </a:t>
            </a:r>
            <a:r>
              <a:rPr b="1" i="1" lang="en" sz="1600" u="sng">
                <a:solidFill>
                  <a:schemeClr val="hlink"/>
                </a:solidFill>
                <a:latin typeface="Open Sans"/>
                <a:ea typeface="Open Sans"/>
                <a:cs typeface="Open Sans"/>
                <a:sym typeface="Open Sans"/>
                <a:hlinkClick r:id="rId16"/>
              </a:rPr>
              <a:t>2</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17">
                  <a:extLst>
                    <a:ext uri="{A12FA001-AC4F-418D-AE19-62706E023703}">
                      <ahyp:hlinkClr val="tx"/>
                    </a:ext>
                  </a:extLst>
                </a:hlinkClick>
              </a:rPr>
              <a:t>Professional development</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b="1" i="1" lang="en" sz="1600" u="sng">
                <a:solidFill>
                  <a:schemeClr val="hlink"/>
                </a:solidFill>
                <a:latin typeface="Open Sans"/>
                <a:ea typeface="Open Sans"/>
                <a:cs typeface="Open Sans"/>
                <a:sym typeface="Open Sans"/>
                <a:hlinkClick r:id="rId18"/>
              </a:rPr>
              <a:t>Picture synthesis</a:t>
            </a:r>
            <a:r>
              <a:rPr b="1" i="1" lang="en" sz="1600">
                <a:solidFill>
                  <a:schemeClr val="dk2"/>
                </a:solidFill>
                <a:latin typeface="Open Sans"/>
                <a:ea typeface="Open Sans"/>
                <a:cs typeface="Open Sans"/>
                <a:sym typeface="Open Sans"/>
              </a:rPr>
              <a:t> </a:t>
            </a:r>
            <a:r>
              <a:rPr lang="en" sz="1600">
                <a:solidFill>
                  <a:schemeClr val="dk2"/>
                </a:solidFill>
                <a:latin typeface="Open Sans"/>
                <a:ea typeface="Open Sans"/>
                <a:cs typeface="Open Sans"/>
                <a:sym typeface="Open Sans"/>
              </a:rPr>
              <a:t>(LARGE)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19">
                  <a:extLst>
                    <a:ext uri="{A12FA001-AC4F-418D-AE19-62706E023703}">
                      <ahyp:hlinkClr val="tx"/>
                    </a:ext>
                  </a:extLst>
                </a:hlinkClick>
              </a:rPr>
              <a:t>Teacher Pay</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20">
                  <a:extLst>
                    <a:ext uri="{A12FA001-AC4F-418D-AE19-62706E023703}">
                      <ahyp:hlinkClr val="tx"/>
                    </a:ext>
                  </a:extLst>
                </a:hlinkClick>
              </a:rPr>
              <a:t>No Excuses Charters</a:t>
            </a:r>
            <a:r>
              <a:rPr lang="en" sz="1600">
                <a:solidFill>
                  <a:schemeClr val="dk2"/>
                </a:solidFill>
                <a:latin typeface="Open Sans"/>
                <a:ea typeface="Open Sans"/>
                <a:cs typeface="Open Sans"/>
                <a:sym typeface="Open Sans"/>
              </a:rPr>
              <a:t> (SMALL)</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b="1" i="1" lang="en" sz="1600" u="sng">
                <a:solidFill>
                  <a:schemeClr val="hlink"/>
                </a:solidFill>
                <a:latin typeface="Open Sans"/>
                <a:ea typeface="Open Sans"/>
                <a:cs typeface="Open Sans"/>
                <a:sym typeface="Open Sans"/>
                <a:hlinkClick r:id="rId21"/>
              </a:rPr>
              <a:t>Rereading (for memory) </a:t>
            </a:r>
            <a:r>
              <a:rPr lang="en" sz="1600">
                <a:solidFill>
                  <a:schemeClr val="dk2"/>
                </a:solidFill>
                <a:latin typeface="Open Sans"/>
                <a:ea typeface="Open Sans"/>
                <a:cs typeface="Open Sans"/>
                <a:sym typeface="Open Sans"/>
              </a:rPr>
              <a:t>(NONE)</a:t>
            </a:r>
            <a:endParaRPr sz="1600">
              <a:solidFill>
                <a:schemeClr val="dk2"/>
              </a:solidFill>
              <a:latin typeface="Open Sans"/>
              <a:ea typeface="Open Sans"/>
              <a:cs typeface="Open Sans"/>
              <a:sym typeface="Open Sans"/>
            </a:endParaRPr>
          </a:p>
        </p:txBody>
      </p:sp>
      <p:sp>
        <p:nvSpPr>
          <p:cNvPr id="95" name="Google Shape;95;p16"/>
          <p:cNvSpPr txBox="1"/>
          <p:nvPr/>
        </p:nvSpPr>
        <p:spPr>
          <a:xfrm>
            <a:off x="0" y="4897200"/>
            <a:ext cx="627000" cy="2463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lang="en" sz="1000">
                <a:solidFill>
                  <a:schemeClr val="dk1"/>
                </a:solidFill>
                <a:latin typeface="Calibri"/>
                <a:ea typeface="Calibri"/>
                <a:cs typeface="Calibri"/>
                <a:sym typeface="Calibri"/>
              </a:rPr>
              <a:t>Practice</a:t>
            </a:r>
            <a:endParaRPr sz="1000"/>
          </a:p>
        </p:txBody>
      </p:sp>
      <p:sp>
        <p:nvSpPr>
          <p:cNvPr id="96" name="Google Shape;96;p16"/>
          <p:cNvSpPr txBox="1"/>
          <p:nvPr/>
        </p:nvSpPr>
        <p:spPr>
          <a:xfrm>
            <a:off x="708425" y="4565325"/>
            <a:ext cx="7921500" cy="54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Open Sans"/>
                <a:ea typeface="Open Sans"/>
                <a:cs typeface="Open Sans"/>
                <a:sym typeface="Open Sans"/>
              </a:rPr>
              <a:t>Note: </a:t>
            </a:r>
            <a:r>
              <a:rPr i="1" lang="en" sz="1800">
                <a:solidFill>
                  <a:schemeClr val="dk2"/>
                </a:solidFill>
                <a:latin typeface="Open Sans"/>
                <a:ea typeface="Open Sans"/>
                <a:cs typeface="Open Sans"/>
                <a:sym typeface="Open Sans"/>
              </a:rPr>
              <a:t>Italicized are </a:t>
            </a:r>
            <a:r>
              <a:rPr lang="en" sz="1800">
                <a:solidFill>
                  <a:schemeClr val="dk2"/>
                </a:solidFill>
                <a:latin typeface="Open Sans"/>
                <a:ea typeface="Open Sans"/>
                <a:cs typeface="Open Sans"/>
                <a:sym typeface="Open Sans"/>
              </a:rPr>
              <a:t>learning strategies. Regular text are policies.</a:t>
            </a:r>
            <a:endParaRPr sz="1800">
              <a:solidFill>
                <a:schemeClr val="dk2"/>
              </a:solidFill>
              <a:latin typeface="Open Sans"/>
              <a:ea typeface="Open Sans"/>
              <a:cs typeface="Open Sans"/>
              <a:sym typeface="Open Sans"/>
            </a:endParaRPr>
          </a:p>
        </p:txBody>
      </p:sp>
      <p:sp>
        <p:nvSpPr>
          <p:cNvPr id="97" name="Google Shape;97;p16"/>
          <p:cNvSpPr txBox="1"/>
          <p:nvPr>
            <p:ph idx="1" type="body"/>
          </p:nvPr>
        </p:nvSpPr>
        <p:spPr>
          <a:xfrm>
            <a:off x="311700" y="1266325"/>
            <a:ext cx="8520600" cy="48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275"/>
              <a:buNone/>
            </a:pPr>
            <a:r>
              <a:rPr lang="en" sz="1750"/>
              <a:t>None: SQUAT. 				Small: SIT.				Large: STAND</a:t>
            </a:r>
            <a:endParaRPr sz="1750"/>
          </a:p>
          <a:p>
            <a:pPr indent="0" lvl="0" marL="0" rtl="0" algn="l">
              <a:spcBef>
                <a:spcPts val="1200"/>
              </a:spcBef>
              <a:spcAft>
                <a:spcPts val="1200"/>
              </a:spcAft>
              <a:buSzPts val="275"/>
              <a:buNone/>
            </a:pPr>
            <a:r>
              <a:t/>
            </a:r>
            <a:endParaRPr sz="175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xEl>
                                              <p:pRg end="0" st="0"/>
                                            </p:txEl>
                                          </p:spTgt>
                                        </p:tgtEl>
                                        <p:attrNameLst>
                                          <p:attrName>style.visibility</p:attrName>
                                        </p:attrNameLst>
                                      </p:cBhvr>
                                      <p:to>
                                        <p:strVal val="visible"/>
                                      </p:to>
                                    </p:set>
                                    <p:animEffect filter="fade" transition="in">
                                      <p:cBhvr>
                                        <p:cTn dur="1000"/>
                                        <p:tgtEl>
                                          <p:spTgt spid="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xEl>
                                              <p:pRg end="1" st="1"/>
                                            </p:txEl>
                                          </p:spTgt>
                                        </p:tgtEl>
                                        <p:attrNameLst>
                                          <p:attrName>style.visibility</p:attrName>
                                        </p:attrNameLst>
                                      </p:cBhvr>
                                      <p:to>
                                        <p:strVal val="visible"/>
                                      </p:to>
                                    </p:set>
                                    <p:animEffect filter="fade" transition="in">
                                      <p:cBhvr>
                                        <p:cTn dur="1000"/>
                                        <p:tgtEl>
                                          <p:spTgt spid="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xEl>
                                              <p:pRg end="2" st="2"/>
                                            </p:txEl>
                                          </p:spTgt>
                                        </p:tgtEl>
                                        <p:attrNameLst>
                                          <p:attrName>style.visibility</p:attrName>
                                        </p:attrNameLst>
                                      </p:cBhvr>
                                      <p:to>
                                        <p:strVal val="visible"/>
                                      </p:to>
                                    </p:set>
                                    <p:animEffect filter="fade" transition="in">
                                      <p:cBhvr>
                                        <p:cTn dur="1000"/>
                                        <p:tgtEl>
                                          <p:spTgt spid="9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xEl>
                                              <p:pRg end="3" st="3"/>
                                            </p:txEl>
                                          </p:spTgt>
                                        </p:tgtEl>
                                        <p:attrNameLst>
                                          <p:attrName>style.visibility</p:attrName>
                                        </p:attrNameLst>
                                      </p:cBhvr>
                                      <p:to>
                                        <p:strVal val="visible"/>
                                      </p:to>
                                    </p:set>
                                    <p:animEffect filter="fade" transition="in">
                                      <p:cBhvr>
                                        <p:cTn dur="1000"/>
                                        <p:tgtEl>
                                          <p:spTgt spid="9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xEl>
                                              <p:pRg end="4" st="4"/>
                                            </p:txEl>
                                          </p:spTgt>
                                        </p:tgtEl>
                                        <p:attrNameLst>
                                          <p:attrName>style.visibility</p:attrName>
                                        </p:attrNameLst>
                                      </p:cBhvr>
                                      <p:to>
                                        <p:strVal val="visible"/>
                                      </p:to>
                                    </p:set>
                                    <p:animEffect filter="fade" transition="in">
                                      <p:cBhvr>
                                        <p:cTn dur="1000"/>
                                        <p:tgtEl>
                                          <p:spTgt spid="9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xEl>
                                              <p:pRg end="5" st="5"/>
                                            </p:txEl>
                                          </p:spTgt>
                                        </p:tgtEl>
                                        <p:attrNameLst>
                                          <p:attrName>style.visibility</p:attrName>
                                        </p:attrNameLst>
                                      </p:cBhvr>
                                      <p:to>
                                        <p:strVal val="visible"/>
                                      </p:to>
                                    </p:set>
                                    <p:animEffect filter="fade" transition="in">
                                      <p:cBhvr>
                                        <p:cTn dur="1000"/>
                                        <p:tgtEl>
                                          <p:spTgt spid="9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xEl>
                                              <p:pRg end="6" st="6"/>
                                            </p:txEl>
                                          </p:spTgt>
                                        </p:tgtEl>
                                        <p:attrNameLst>
                                          <p:attrName>style.visibility</p:attrName>
                                        </p:attrNameLst>
                                      </p:cBhvr>
                                      <p:to>
                                        <p:strVal val="visible"/>
                                      </p:to>
                                    </p:set>
                                    <p:animEffect filter="fade" transition="in">
                                      <p:cBhvr>
                                        <p:cTn dur="1000"/>
                                        <p:tgtEl>
                                          <p:spTgt spid="9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xEl>
                                              <p:pRg end="7" st="7"/>
                                            </p:txEl>
                                          </p:spTgt>
                                        </p:tgtEl>
                                        <p:attrNameLst>
                                          <p:attrName>style.visibility</p:attrName>
                                        </p:attrNameLst>
                                      </p:cBhvr>
                                      <p:to>
                                        <p:strVal val="visible"/>
                                      </p:to>
                                    </p:set>
                                    <p:animEffect filter="fade" transition="in">
                                      <p:cBhvr>
                                        <p:cTn dur="1000"/>
                                        <p:tgtEl>
                                          <p:spTgt spid="9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xEl>
                                              <p:pRg end="8" st="8"/>
                                            </p:txEl>
                                          </p:spTgt>
                                        </p:tgtEl>
                                        <p:attrNameLst>
                                          <p:attrName>style.visibility</p:attrName>
                                        </p:attrNameLst>
                                      </p:cBhvr>
                                      <p:to>
                                        <p:strVal val="visible"/>
                                      </p:to>
                                    </p:set>
                                    <p:animEffect filter="fade" transition="in">
                                      <p:cBhvr>
                                        <p:cTn dur="1000"/>
                                        <p:tgtEl>
                                          <p:spTgt spid="9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
                                            <p:txEl>
                                              <p:pRg end="9" st="9"/>
                                            </p:txEl>
                                          </p:spTgt>
                                        </p:tgtEl>
                                        <p:attrNameLst>
                                          <p:attrName>style.visibility</p:attrName>
                                        </p:attrNameLst>
                                      </p:cBhvr>
                                      <p:to>
                                        <p:strVal val="visible"/>
                                      </p:to>
                                    </p:set>
                                    <p:animEffect filter="fade" transition="in">
                                      <p:cBhvr>
                                        <p:cTn dur="1000"/>
                                        <p:tgtEl>
                                          <p:spTgt spid="9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animEffect filter="fade" transition="in">
                                      <p:cBhvr>
                                        <p:cTn dur="1000"/>
                                        <p:tgtEl>
                                          <p:spTgt spid="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1" st="1"/>
                                            </p:txEl>
                                          </p:spTgt>
                                        </p:tgtEl>
                                        <p:attrNameLst>
                                          <p:attrName>style.visibility</p:attrName>
                                        </p:attrNameLst>
                                      </p:cBhvr>
                                      <p:to>
                                        <p:strVal val="visible"/>
                                      </p:to>
                                    </p:set>
                                    <p:animEffect filter="fade" transition="in">
                                      <p:cBhvr>
                                        <p:cTn dur="1000"/>
                                        <p:tgtEl>
                                          <p:spTgt spid="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2" st="2"/>
                                            </p:txEl>
                                          </p:spTgt>
                                        </p:tgtEl>
                                        <p:attrNameLst>
                                          <p:attrName>style.visibility</p:attrName>
                                        </p:attrNameLst>
                                      </p:cBhvr>
                                      <p:to>
                                        <p:strVal val="visible"/>
                                      </p:to>
                                    </p:set>
                                    <p:animEffect filter="fade" transition="in">
                                      <p:cBhvr>
                                        <p:cTn dur="1000"/>
                                        <p:tgtEl>
                                          <p:spTgt spid="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3" st="3"/>
                                            </p:txEl>
                                          </p:spTgt>
                                        </p:tgtEl>
                                        <p:attrNameLst>
                                          <p:attrName>style.visibility</p:attrName>
                                        </p:attrNameLst>
                                      </p:cBhvr>
                                      <p:to>
                                        <p:strVal val="visible"/>
                                      </p:to>
                                    </p:set>
                                    <p:animEffect filter="fade" transition="in">
                                      <p:cBhvr>
                                        <p:cTn dur="1000"/>
                                        <p:tgtEl>
                                          <p:spTgt spid="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4" st="4"/>
                                            </p:txEl>
                                          </p:spTgt>
                                        </p:tgtEl>
                                        <p:attrNameLst>
                                          <p:attrName>style.visibility</p:attrName>
                                        </p:attrNameLst>
                                      </p:cBhvr>
                                      <p:to>
                                        <p:strVal val="visible"/>
                                      </p:to>
                                    </p:set>
                                    <p:animEffect filter="fade" transition="in">
                                      <p:cBhvr>
                                        <p:cTn dur="1000"/>
                                        <p:tgtEl>
                                          <p:spTgt spid="9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5" st="5"/>
                                            </p:txEl>
                                          </p:spTgt>
                                        </p:tgtEl>
                                        <p:attrNameLst>
                                          <p:attrName>style.visibility</p:attrName>
                                        </p:attrNameLst>
                                      </p:cBhvr>
                                      <p:to>
                                        <p:strVal val="visible"/>
                                      </p:to>
                                    </p:set>
                                    <p:animEffect filter="fade" transition="in">
                                      <p:cBhvr>
                                        <p:cTn dur="1000"/>
                                        <p:tgtEl>
                                          <p:spTgt spid="9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6" st="6"/>
                                            </p:txEl>
                                          </p:spTgt>
                                        </p:tgtEl>
                                        <p:attrNameLst>
                                          <p:attrName>style.visibility</p:attrName>
                                        </p:attrNameLst>
                                      </p:cBhvr>
                                      <p:to>
                                        <p:strVal val="visible"/>
                                      </p:to>
                                    </p:set>
                                    <p:animEffect filter="fade" transition="in">
                                      <p:cBhvr>
                                        <p:cTn dur="1000"/>
                                        <p:tgtEl>
                                          <p:spTgt spid="9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7" st="7"/>
                                            </p:txEl>
                                          </p:spTgt>
                                        </p:tgtEl>
                                        <p:attrNameLst>
                                          <p:attrName>style.visibility</p:attrName>
                                        </p:attrNameLst>
                                      </p:cBhvr>
                                      <p:to>
                                        <p:strVal val="visible"/>
                                      </p:to>
                                    </p:set>
                                    <p:animEffect filter="fade" transition="in">
                                      <p:cBhvr>
                                        <p:cTn dur="1000"/>
                                        <p:tgtEl>
                                          <p:spTgt spid="9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8" st="8"/>
                                            </p:txEl>
                                          </p:spTgt>
                                        </p:tgtEl>
                                        <p:attrNameLst>
                                          <p:attrName>style.visibility</p:attrName>
                                        </p:attrNameLst>
                                      </p:cBhvr>
                                      <p:to>
                                        <p:strVal val="visible"/>
                                      </p:to>
                                    </p:set>
                                    <p:animEffect filter="fade" transition="in">
                                      <p:cBhvr>
                                        <p:cTn dur="1000"/>
                                        <p:tgtEl>
                                          <p:spTgt spid="9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txBox="1"/>
          <p:nvPr>
            <p:ph type="title"/>
          </p:nvPr>
        </p:nvSpPr>
        <p:spPr>
          <a:xfrm>
            <a:off x="155850" y="222513"/>
            <a:ext cx="4260300" cy="35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Impact:</a:t>
            </a:r>
            <a:endParaRPr/>
          </a:p>
        </p:txBody>
      </p:sp>
      <p:sp>
        <p:nvSpPr>
          <p:cNvPr id="103" name="Google Shape;103;p17"/>
          <p:cNvSpPr txBox="1"/>
          <p:nvPr>
            <p:ph idx="1" type="body"/>
          </p:nvPr>
        </p:nvSpPr>
        <p:spPr>
          <a:xfrm>
            <a:off x="311700" y="1266325"/>
            <a:ext cx="8520600" cy="48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275"/>
              <a:buNone/>
            </a:pPr>
            <a:r>
              <a:rPr lang="en" sz="1950">
                <a:latin typeface="Times New Roman"/>
                <a:ea typeface="Times New Roman"/>
                <a:cs typeface="Times New Roman"/>
                <a:sym typeface="Times New Roman"/>
              </a:rPr>
              <a:t>None: SQUAT. 			Small or Medium: SIT 		Large: STAND</a:t>
            </a:r>
            <a:endParaRPr sz="1950">
              <a:latin typeface="Times New Roman"/>
              <a:ea typeface="Times New Roman"/>
              <a:cs typeface="Times New Roman"/>
              <a:sym typeface="Times New Roman"/>
            </a:endParaRPr>
          </a:p>
          <a:p>
            <a:pPr indent="0" lvl="0" marL="0" rtl="0" algn="l">
              <a:spcBef>
                <a:spcPts val="1200"/>
              </a:spcBef>
              <a:spcAft>
                <a:spcPts val="1200"/>
              </a:spcAft>
              <a:buSzPts val="275"/>
              <a:buNone/>
            </a:pPr>
            <a:r>
              <a:t/>
            </a:r>
            <a:endParaRPr sz="1950">
              <a:latin typeface="Times New Roman"/>
              <a:ea typeface="Times New Roman"/>
              <a:cs typeface="Times New Roman"/>
              <a:sym typeface="Times New Roman"/>
            </a:endParaRPr>
          </a:p>
        </p:txBody>
      </p:sp>
      <p:sp>
        <p:nvSpPr>
          <p:cNvPr id="104" name="Google Shape;104;p17"/>
          <p:cNvSpPr txBox="1"/>
          <p:nvPr/>
        </p:nvSpPr>
        <p:spPr>
          <a:xfrm>
            <a:off x="421650" y="1913450"/>
            <a:ext cx="4449600" cy="2979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Class size reduction (CSR)</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Praxis</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Getting a master’s degree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Experience (first five years)</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Experience (after first five)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Parent Involvement</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Teacher Race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Computers and tech</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Universal PreK</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Teach for America</a:t>
            </a:r>
            <a:endParaRPr sz="1600">
              <a:solidFill>
                <a:schemeClr val="dk2"/>
              </a:solidFill>
              <a:latin typeface="Times New Roman"/>
              <a:ea typeface="Times New Roman"/>
              <a:cs typeface="Times New Roman"/>
              <a:sym typeface="Times New Roman"/>
            </a:endParaRPr>
          </a:p>
        </p:txBody>
      </p:sp>
      <p:sp>
        <p:nvSpPr>
          <p:cNvPr id="105" name="Google Shape;105;p17"/>
          <p:cNvSpPr txBox="1"/>
          <p:nvPr/>
        </p:nvSpPr>
        <p:spPr>
          <a:xfrm>
            <a:off x="4871175" y="1868625"/>
            <a:ext cx="4139700" cy="2979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School funding</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Teacher effectiveness</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Professional development</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Teacher Pay</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Credentialing</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Curriculum</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Family income (poverty)</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Teacher mindsets</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Matching learning styles</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No Excuses Charters</a:t>
            </a:r>
            <a:endParaRPr sz="1600">
              <a:solidFill>
                <a:schemeClr val="dk2"/>
              </a:solidFill>
              <a:latin typeface="Times New Roman"/>
              <a:ea typeface="Times New Roman"/>
              <a:cs typeface="Times New Roman"/>
              <a:sym typeface="Times New Roman"/>
            </a:endParaRPr>
          </a:p>
        </p:txBody>
      </p:sp>
      <p:sp>
        <p:nvSpPr>
          <p:cNvPr id="106" name="Google Shape;106;p17"/>
          <p:cNvSpPr txBox="1"/>
          <p:nvPr/>
        </p:nvSpPr>
        <p:spPr>
          <a:xfrm>
            <a:off x="0" y="4897200"/>
            <a:ext cx="627000" cy="2463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lang="en" sz="1000">
                <a:solidFill>
                  <a:schemeClr val="dk1"/>
                </a:solidFill>
                <a:latin typeface="Calibri"/>
                <a:ea typeface="Calibri"/>
                <a:cs typeface="Calibri"/>
                <a:sym typeface="Calibri"/>
              </a:rPr>
              <a:t>Practice</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animEffect filter="fade" transition="in">
                                      <p:cBhvr>
                                        <p:cTn dur="1000"/>
                                        <p:tgtEl>
                                          <p:spTgt spid="1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animEffect filter="fade" transition="in">
                                      <p:cBhvr>
                                        <p:cTn dur="1000"/>
                                        <p:tgtEl>
                                          <p:spTgt spid="1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2" st="2"/>
                                            </p:txEl>
                                          </p:spTgt>
                                        </p:tgtEl>
                                        <p:attrNameLst>
                                          <p:attrName>style.visibility</p:attrName>
                                        </p:attrNameLst>
                                      </p:cBhvr>
                                      <p:to>
                                        <p:strVal val="visible"/>
                                      </p:to>
                                    </p:set>
                                    <p:animEffect filter="fade" transition="in">
                                      <p:cBhvr>
                                        <p:cTn dur="1000"/>
                                        <p:tgtEl>
                                          <p:spTgt spid="1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3" st="3"/>
                                            </p:txEl>
                                          </p:spTgt>
                                        </p:tgtEl>
                                        <p:attrNameLst>
                                          <p:attrName>style.visibility</p:attrName>
                                        </p:attrNameLst>
                                      </p:cBhvr>
                                      <p:to>
                                        <p:strVal val="visible"/>
                                      </p:to>
                                    </p:set>
                                    <p:animEffect filter="fade" transition="in">
                                      <p:cBhvr>
                                        <p:cTn dur="1000"/>
                                        <p:tgtEl>
                                          <p:spTgt spid="1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4" st="4"/>
                                            </p:txEl>
                                          </p:spTgt>
                                        </p:tgtEl>
                                        <p:attrNameLst>
                                          <p:attrName>style.visibility</p:attrName>
                                        </p:attrNameLst>
                                      </p:cBhvr>
                                      <p:to>
                                        <p:strVal val="visible"/>
                                      </p:to>
                                    </p:set>
                                    <p:animEffect filter="fade" transition="in">
                                      <p:cBhvr>
                                        <p:cTn dur="1000"/>
                                        <p:tgtEl>
                                          <p:spTgt spid="10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5" st="5"/>
                                            </p:txEl>
                                          </p:spTgt>
                                        </p:tgtEl>
                                        <p:attrNameLst>
                                          <p:attrName>style.visibility</p:attrName>
                                        </p:attrNameLst>
                                      </p:cBhvr>
                                      <p:to>
                                        <p:strVal val="visible"/>
                                      </p:to>
                                    </p:set>
                                    <p:animEffect filter="fade" transition="in">
                                      <p:cBhvr>
                                        <p:cTn dur="1000"/>
                                        <p:tgtEl>
                                          <p:spTgt spid="10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6" st="6"/>
                                            </p:txEl>
                                          </p:spTgt>
                                        </p:tgtEl>
                                        <p:attrNameLst>
                                          <p:attrName>style.visibility</p:attrName>
                                        </p:attrNameLst>
                                      </p:cBhvr>
                                      <p:to>
                                        <p:strVal val="visible"/>
                                      </p:to>
                                    </p:set>
                                    <p:animEffect filter="fade" transition="in">
                                      <p:cBhvr>
                                        <p:cTn dur="1000"/>
                                        <p:tgtEl>
                                          <p:spTgt spid="10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7" st="7"/>
                                            </p:txEl>
                                          </p:spTgt>
                                        </p:tgtEl>
                                        <p:attrNameLst>
                                          <p:attrName>style.visibility</p:attrName>
                                        </p:attrNameLst>
                                      </p:cBhvr>
                                      <p:to>
                                        <p:strVal val="visible"/>
                                      </p:to>
                                    </p:set>
                                    <p:animEffect filter="fade" transition="in">
                                      <p:cBhvr>
                                        <p:cTn dur="1000"/>
                                        <p:tgtEl>
                                          <p:spTgt spid="10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8" st="8"/>
                                            </p:txEl>
                                          </p:spTgt>
                                        </p:tgtEl>
                                        <p:attrNameLst>
                                          <p:attrName>style.visibility</p:attrName>
                                        </p:attrNameLst>
                                      </p:cBhvr>
                                      <p:to>
                                        <p:strVal val="visible"/>
                                      </p:to>
                                    </p:set>
                                    <p:animEffect filter="fade" transition="in">
                                      <p:cBhvr>
                                        <p:cTn dur="1000"/>
                                        <p:tgtEl>
                                          <p:spTgt spid="10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
                                            <p:txEl>
                                              <p:pRg end="9" st="9"/>
                                            </p:txEl>
                                          </p:spTgt>
                                        </p:tgtEl>
                                        <p:attrNameLst>
                                          <p:attrName>style.visibility</p:attrName>
                                        </p:attrNameLst>
                                      </p:cBhvr>
                                      <p:to>
                                        <p:strVal val="visible"/>
                                      </p:to>
                                    </p:set>
                                    <p:animEffect filter="fade" transition="in">
                                      <p:cBhvr>
                                        <p:cTn dur="1000"/>
                                        <p:tgtEl>
                                          <p:spTgt spid="10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animEffect filter="fade" transition="in">
                                      <p:cBhvr>
                                        <p:cTn dur="1000"/>
                                        <p:tgtEl>
                                          <p:spTgt spid="1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animEffect filter="fade" transition="in">
                                      <p:cBhvr>
                                        <p:cTn dur="1000"/>
                                        <p:tgtEl>
                                          <p:spTgt spid="1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animEffect filter="fade" transition="in">
                                      <p:cBhvr>
                                        <p:cTn dur="1000"/>
                                        <p:tgtEl>
                                          <p:spTgt spid="1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animEffect filter="fade" transition="in">
                                      <p:cBhvr>
                                        <p:cTn dur="1000"/>
                                        <p:tgtEl>
                                          <p:spTgt spid="1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4" st="4"/>
                                            </p:txEl>
                                          </p:spTgt>
                                        </p:tgtEl>
                                        <p:attrNameLst>
                                          <p:attrName>style.visibility</p:attrName>
                                        </p:attrNameLst>
                                      </p:cBhvr>
                                      <p:to>
                                        <p:strVal val="visible"/>
                                      </p:to>
                                    </p:set>
                                    <p:animEffect filter="fade" transition="in">
                                      <p:cBhvr>
                                        <p:cTn dur="1000"/>
                                        <p:tgtEl>
                                          <p:spTgt spid="10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5" st="5"/>
                                            </p:txEl>
                                          </p:spTgt>
                                        </p:tgtEl>
                                        <p:attrNameLst>
                                          <p:attrName>style.visibility</p:attrName>
                                        </p:attrNameLst>
                                      </p:cBhvr>
                                      <p:to>
                                        <p:strVal val="visible"/>
                                      </p:to>
                                    </p:set>
                                    <p:animEffect filter="fade" transition="in">
                                      <p:cBhvr>
                                        <p:cTn dur="1000"/>
                                        <p:tgtEl>
                                          <p:spTgt spid="10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6" st="6"/>
                                            </p:txEl>
                                          </p:spTgt>
                                        </p:tgtEl>
                                        <p:attrNameLst>
                                          <p:attrName>style.visibility</p:attrName>
                                        </p:attrNameLst>
                                      </p:cBhvr>
                                      <p:to>
                                        <p:strVal val="visible"/>
                                      </p:to>
                                    </p:set>
                                    <p:animEffect filter="fade" transition="in">
                                      <p:cBhvr>
                                        <p:cTn dur="1000"/>
                                        <p:tgtEl>
                                          <p:spTgt spid="10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7" st="7"/>
                                            </p:txEl>
                                          </p:spTgt>
                                        </p:tgtEl>
                                        <p:attrNameLst>
                                          <p:attrName>style.visibility</p:attrName>
                                        </p:attrNameLst>
                                      </p:cBhvr>
                                      <p:to>
                                        <p:strVal val="visible"/>
                                      </p:to>
                                    </p:set>
                                    <p:animEffect filter="fade" transition="in">
                                      <p:cBhvr>
                                        <p:cTn dur="1000"/>
                                        <p:tgtEl>
                                          <p:spTgt spid="10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8" st="8"/>
                                            </p:txEl>
                                          </p:spTgt>
                                        </p:tgtEl>
                                        <p:attrNameLst>
                                          <p:attrName>style.visibility</p:attrName>
                                        </p:attrNameLst>
                                      </p:cBhvr>
                                      <p:to>
                                        <p:strVal val="visible"/>
                                      </p:to>
                                    </p:set>
                                    <p:animEffect filter="fade" transition="in">
                                      <p:cBhvr>
                                        <p:cTn dur="1000"/>
                                        <p:tgtEl>
                                          <p:spTgt spid="10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xEl>
                                              <p:pRg end="9" st="9"/>
                                            </p:txEl>
                                          </p:spTgt>
                                        </p:tgtEl>
                                        <p:attrNameLst>
                                          <p:attrName>style.visibility</p:attrName>
                                        </p:attrNameLst>
                                      </p:cBhvr>
                                      <p:to>
                                        <p:strVal val="visible"/>
                                      </p:to>
                                    </p:set>
                                    <p:animEffect filter="fade" transition="in">
                                      <p:cBhvr>
                                        <p:cTn dur="1000"/>
                                        <p:tgtEl>
                                          <p:spTgt spid="105">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ph type="title"/>
          </p:nvPr>
        </p:nvSpPr>
        <p:spPr>
          <a:xfrm>
            <a:off x="155850" y="222513"/>
            <a:ext cx="4260300" cy="35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Answers:</a:t>
            </a:r>
            <a:endParaRPr/>
          </a:p>
        </p:txBody>
      </p:sp>
      <p:sp>
        <p:nvSpPr>
          <p:cNvPr id="112" name="Google Shape;112;p18"/>
          <p:cNvSpPr txBox="1"/>
          <p:nvPr>
            <p:ph idx="1" type="body"/>
          </p:nvPr>
        </p:nvSpPr>
        <p:spPr>
          <a:xfrm>
            <a:off x="311700" y="1266325"/>
            <a:ext cx="8520600" cy="48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275"/>
              <a:buNone/>
            </a:pPr>
            <a:r>
              <a:rPr lang="en" sz="1750"/>
              <a:t>None: SQUAT. 				Small: SIT.				Large: STAND</a:t>
            </a:r>
            <a:endParaRPr sz="1750"/>
          </a:p>
          <a:p>
            <a:pPr indent="0" lvl="0" marL="0" rtl="0" algn="l">
              <a:spcBef>
                <a:spcPts val="1200"/>
              </a:spcBef>
              <a:spcAft>
                <a:spcPts val="1200"/>
              </a:spcAft>
              <a:buSzPts val="275"/>
              <a:buNone/>
            </a:pPr>
            <a:r>
              <a:t/>
            </a:r>
            <a:endParaRPr sz="1750"/>
          </a:p>
        </p:txBody>
      </p:sp>
      <p:sp>
        <p:nvSpPr>
          <p:cNvPr id="113" name="Google Shape;113;p18"/>
          <p:cNvSpPr txBox="1"/>
          <p:nvPr/>
        </p:nvSpPr>
        <p:spPr>
          <a:xfrm>
            <a:off x="151275" y="1868625"/>
            <a:ext cx="4420800" cy="2979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3"/>
              </a:rPr>
              <a:t>Class size reduction (CSR)</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4"/>
              </a:rPr>
              <a:t>Praxis</a:t>
            </a:r>
            <a:r>
              <a:rPr lang="en" sz="1600">
                <a:solidFill>
                  <a:schemeClr val="dk2"/>
                </a:solidFill>
                <a:latin typeface="Open Sans"/>
                <a:ea typeface="Open Sans"/>
                <a:cs typeface="Open Sans"/>
                <a:sym typeface="Open Sans"/>
              </a:rPr>
              <a:t> (NONE*) </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5">
                  <a:extLst>
                    <a:ext uri="{A12FA001-AC4F-418D-AE19-62706E023703}">
                      <ahyp:hlinkClr val="tx"/>
                    </a:ext>
                  </a:extLst>
                </a:hlinkClick>
              </a:rPr>
              <a:t>Getting a master’s degree</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6">
                  <a:extLst>
                    <a:ext uri="{A12FA001-AC4F-418D-AE19-62706E023703}">
                      <ahyp:hlinkClr val="tx"/>
                    </a:ext>
                  </a:extLst>
                </a:hlinkClick>
              </a:rPr>
              <a:t>Experience</a:t>
            </a:r>
            <a:r>
              <a:rPr lang="en" sz="1600">
                <a:solidFill>
                  <a:schemeClr val="dk2"/>
                </a:solidFill>
                <a:latin typeface="Open Sans"/>
                <a:ea typeface="Open Sans"/>
                <a:cs typeface="Open Sans"/>
                <a:sym typeface="Open Sans"/>
              </a:rPr>
              <a:t> (first five years) (LARGE)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7">
                  <a:extLst>
                    <a:ext uri="{A12FA001-AC4F-418D-AE19-62706E023703}">
                      <ahyp:hlinkClr val="tx"/>
                    </a:ext>
                  </a:extLst>
                </a:hlinkClick>
              </a:rPr>
              <a:t>Experience</a:t>
            </a:r>
            <a:r>
              <a:rPr lang="en" sz="1600">
                <a:solidFill>
                  <a:schemeClr val="dk2"/>
                </a:solidFill>
                <a:latin typeface="Open Sans"/>
                <a:ea typeface="Open Sans"/>
                <a:cs typeface="Open Sans"/>
                <a:sym typeface="Open Sans"/>
              </a:rPr>
              <a:t> (after first five) (SMALL)</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8">
                  <a:extLst>
                    <a:ext uri="{A12FA001-AC4F-418D-AE19-62706E023703}">
                      <ahyp:hlinkClr val="tx"/>
                    </a:ext>
                  </a:extLst>
                </a:hlinkClick>
              </a:rPr>
              <a:t>Parent Involvement</a:t>
            </a:r>
            <a:r>
              <a:rPr lang="en" sz="1600">
                <a:solidFill>
                  <a:schemeClr val="dk2"/>
                </a:solidFill>
                <a:latin typeface="Open Sans"/>
                <a:ea typeface="Open Sans"/>
                <a:cs typeface="Open Sans"/>
                <a:sym typeface="Open Sans"/>
              </a:rPr>
              <a:t> (SMALL**)</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9"/>
              </a:rPr>
              <a:t>Teacher Race</a:t>
            </a:r>
            <a:r>
              <a:rPr lang="en" sz="1600">
                <a:solidFill>
                  <a:schemeClr val="dk2"/>
                </a:solidFill>
                <a:latin typeface="Open Sans"/>
                <a:ea typeface="Open Sans"/>
                <a:cs typeface="Open Sans"/>
                <a:sym typeface="Open Sans"/>
              </a:rPr>
              <a:t> (SMALL)</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10">
                  <a:extLst>
                    <a:ext uri="{A12FA001-AC4F-418D-AE19-62706E023703}">
                      <ahyp:hlinkClr val="tx"/>
                    </a:ext>
                  </a:extLst>
                </a:hlinkClick>
              </a:rPr>
              <a:t>Computers and tech</a:t>
            </a:r>
            <a:r>
              <a:rPr lang="en" sz="1600">
                <a:solidFill>
                  <a:schemeClr val="dk2"/>
                </a:solidFill>
                <a:latin typeface="Open Sans"/>
                <a:ea typeface="Open Sans"/>
                <a:cs typeface="Open Sans"/>
                <a:sym typeface="Open Sans"/>
              </a:rPr>
              <a:t> (SMALL)</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11">
                  <a:extLst>
                    <a:ext uri="{A12FA001-AC4F-418D-AE19-62706E023703}">
                      <ahyp:hlinkClr val="tx"/>
                    </a:ext>
                  </a:extLst>
                </a:hlinkClick>
              </a:rPr>
              <a:t>Universal PreK</a:t>
            </a:r>
            <a:r>
              <a:rPr lang="en" sz="1600">
                <a:solidFill>
                  <a:schemeClr val="dk2"/>
                </a:solidFill>
                <a:latin typeface="Open Sans"/>
                <a:ea typeface="Open Sans"/>
                <a:cs typeface="Open Sans"/>
                <a:sym typeface="Open Sans"/>
              </a:rPr>
              <a:t> (NEGATIVE)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12">
                  <a:extLst>
                    <a:ext uri="{A12FA001-AC4F-418D-AE19-62706E023703}">
                      <ahyp:hlinkClr val="tx"/>
                    </a:ext>
                  </a:extLst>
                </a:hlinkClick>
              </a:rPr>
              <a:t>Teach for America</a:t>
            </a:r>
            <a:r>
              <a:rPr lang="en" sz="1600">
                <a:solidFill>
                  <a:schemeClr val="dk2"/>
                </a:solidFill>
                <a:latin typeface="Open Sans"/>
                <a:ea typeface="Open Sans"/>
                <a:cs typeface="Open Sans"/>
                <a:sym typeface="Open Sans"/>
              </a:rPr>
              <a:t> (SMALL)</a:t>
            </a:r>
            <a:endParaRPr sz="1600">
              <a:solidFill>
                <a:schemeClr val="dk2"/>
              </a:solidFill>
              <a:latin typeface="Open Sans"/>
              <a:ea typeface="Open Sans"/>
              <a:cs typeface="Open Sans"/>
              <a:sym typeface="Open Sans"/>
            </a:endParaRPr>
          </a:p>
        </p:txBody>
      </p:sp>
      <p:sp>
        <p:nvSpPr>
          <p:cNvPr id="114" name="Google Shape;114;p18"/>
          <p:cNvSpPr txBox="1"/>
          <p:nvPr/>
        </p:nvSpPr>
        <p:spPr>
          <a:xfrm>
            <a:off x="4871175" y="1868625"/>
            <a:ext cx="4420800" cy="2979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13">
                  <a:extLst>
                    <a:ext uri="{A12FA001-AC4F-418D-AE19-62706E023703}">
                      <ahyp:hlinkClr val="tx"/>
                    </a:ext>
                  </a:extLst>
                </a:hlinkClick>
              </a:rPr>
              <a:t>School funding</a:t>
            </a:r>
            <a:r>
              <a:rPr lang="en" sz="1600">
                <a:solidFill>
                  <a:schemeClr val="dk2"/>
                </a:solidFill>
                <a:latin typeface="Open Sans"/>
                <a:ea typeface="Open Sans"/>
                <a:cs typeface="Open Sans"/>
                <a:sym typeface="Open Sans"/>
              </a:rPr>
              <a:t>*** (NONE) </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14">
                  <a:extLst>
                    <a:ext uri="{A12FA001-AC4F-418D-AE19-62706E023703}">
                      <ahyp:hlinkClr val="tx"/>
                    </a:ext>
                  </a:extLst>
                </a:hlinkClick>
              </a:rPr>
              <a:t>Teacher effectiveness</a:t>
            </a:r>
            <a:r>
              <a:rPr lang="en" sz="1600">
                <a:solidFill>
                  <a:schemeClr val="dk2"/>
                </a:solidFill>
                <a:latin typeface="Open Sans"/>
                <a:ea typeface="Open Sans"/>
                <a:cs typeface="Open Sans"/>
                <a:sym typeface="Open Sans"/>
              </a:rPr>
              <a:t> (LARGE)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15">
                  <a:extLst>
                    <a:ext uri="{A12FA001-AC4F-418D-AE19-62706E023703}">
                      <ahyp:hlinkClr val="tx"/>
                    </a:ext>
                  </a:extLst>
                </a:hlinkClick>
              </a:rPr>
              <a:t>Professional development</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16">
                  <a:extLst>
                    <a:ext uri="{A12FA001-AC4F-418D-AE19-62706E023703}">
                      <ahyp:hlinkClr val="tx"/>
                    </a:ext>
                  </a:extLst>
                </a:hlinkClick>
              </a:rPr>
              <a:t>Teacher Pay</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17">
                  <a:extLst>
                    <a:ext uri="{A12FA001-AC4F-418D-AE19-62706E023703}">
                      <ahyp:hlinkClr val="tx"/>
                    </a:ext>
                  </a:extLst>
                </a:hlinkClick>
              </a:rPr>
              <a:t>Credentialing </a:t>
            </a:r>
            <a:r>
              <a:rPr lang="en" sz="1600">
                <a:solidFill>
                  <a:schemeClr val="dk2"/>
                </a:solidFill>
                <a:latin typeface="Open Sans"/>
                <a:ea typeface="Open Sans"/>
                <a:cs typeface="Open Sans"/>
                <a:sym typeface="Open Sans"/>
              </a:rPr>
              <a:t>(NONE)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18">
                  <a:extLst>
                    <a:ext uri="{A12FA001-AC4F-418D-AE19-62706E023703}">
                      <ahyp:hlinkClr val="tx"/>
                    </a:ext>
                  </a:extLst>
                </a:hlinkClick>
              </a:rPr>
              <a:t>Curriculum</a:t>
            </a:r>
            <a:r>
              <a:rPr lang="en" sz="1600">
                <a:solidFill>
                  <a:schemeClr val="dk2"/>
                </a:solidFill>
                <a:latin typeface="Open Sans"/>
                <a:ea typeface="Open Sans"/>
                <a:cs typeface="Open Sans"/>
                <a:sym typeface="Open Sans"/>
              </a:rPr>
              <a:t>*** (NONE) </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19">
                  <a:extLst>
                    <a:ext uri="{A12FA001-AC4F-418D-AE19-62706E023703}">
                      <ahyp:hlinkClr val="tx"/>
                    </a:ext>
                  </a:extLst>
                </a:hlinkClick>
              </a:rPr>
              <a:t>Family income (poverty)</a:t>
            </a:r>
            <a:r>
              <a:rPr lang="en" sz="1600">
                <a:solidFill>
                  <a:schemeClr val="dk2"/>
                </a:solidFill>
                <a:latin typeface="Open Sans"/>
                <a:ea typeface="Open Sans"/>
                <a:cs typeface="Open Sans"/>
                <a:sym typeface="Open Sans"/>
              </a:rPr>
              <a:t> (LARGE)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20">
                  <a:extLst>
                    <a:ext uri="{A12FA001-AC4F-418D-AE19-62706E023703}">
                      <ahyp:hlinkClr val="tx"/>
                    </a:ext>
                  </a:extLst>
                </a:hlinkClick>
              </a:rPr>
              <a:t>Teacher mindsets</a:t>
            </a:r>
            <a:r>
              <a:rPr lang="en" sz="1600">
                <a:solidFill>
                  <a:schemeClr val="dk2"/>
                </a:solidFill>
                <a:latin typeface="Open Sans"/>
                <a:ea typeface="Open Sans"/>
                <a:cs typeface="Open Sans"/>
                <a:sym typeface="Open Sans"/>
              </a:rPr>
              <a:t> (Large)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21">
                  <a:extLst>
                    <a:ext uri="{A12FA001-AC4F-418D-AE19-62706E023703}">
                      <ahyp:hlinkClr val="tx"/>
                    </a:ext>
                  </a:extLst>
                </a:hlinkClick>
              </a:rPr>
              <a:t>Matching learning styles</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22">
                  <a:extLst>
                    <a:ext uri="{A12FA001-AC4F-418D-AE19-62706E023703}">
                      <ahyp:hlinkClr val="tx"/>
                    </a:ext>
                  </a:extLst>
                </a:hlinkClick>
              </a:rPr>
              <a:t>No Excuses Charters</a:t>
            </a:r>
            <a:r>
              <a:rPr lang="en" sz="1600">
                <a:solidFill>
                  <a:schemeClr val="dk2"/>
                </a:solidFill>
                <a:latin typeface="Open Sans"/>
                <a:ea typeface="Open Sans"/>
                <a:cs typeface="Open Sans"/>
                <a:sym typeface="Open Sans"/>
              </a:rPr>
              <a:t> (SMALL)</a:t>
            </a:r>
            <a:endParaRPr sz="1600">
              <a:solidFill>
                <a:schemeClr val="dk2"/>
              </a:solidFill>
              <a:latin typeface="Open Sans"/>
              <a:ea typeface="Open Sans"/>
              <a:cs typeface="Open Sans"/>
              <a:sym typeface="Open Sans"/>
            </a:endParaRPr>
          </a:p>
        </p:txBody>
      </p:sp>
      <p:sp>
        <p:nvSpPr>
          <p:cNvPr id="115" name="Google Shape;115;p18"/>
          <p:cNvSpPr txBox="1"/>
          <p:nvPr/>
        </p:nvSpPr>
        <p:spPr>
          <a:xfrm>
            <a:off x="0" y="4897200"/>
            <a:ext cx="627000" cy="2463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lang="en" sz="1000">
                <a:solidFill>
                  <a:schemeClr val="dk1"/>
                </a:solidFill>
                <a:latin typeface="Calibri"/>
                <a:ea typeface="Calibri"/>
                <a:cs typeface="Calibri"/>
                <a:sym typeface="Calibri"/>
              </a:rPr>
              <a:t>Practice</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nvSpPr>
        <p:spPr>
          <a:xfrm>
            <a:off x="4623550" y="1868625"/>
            <a:ext cx="4420800" cy="1847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hlinkClick r:id="rId3"/>
              </a:rPr>
              <a:t>More</a:t>
            </a:r>
            <a:r>
              <a:rPr lang="en" sz="1600"/>
              <a:t>, </a:t>
            </a:r>
            <a:r>
              <a:rPr lang="en" sz="1600" u="sng">
                <a:solidFill>
                  <a:schemeClr val="hlink"/>
                </a:solidFill>
                <a:hlinkClick r:id="rId4"/>
              </a:rPr>
              <a:t>more</a:t>
            </a:r>
            <a:r>
              <a:rPr lang="en" sz="1600"/>
              <a:t>, </a:t>
            </a:r>
            <a:r>
              <a:rPr lang="en" sz="1600" u="sng">
                <a:solidFill>
                  <a:schemeClr val="hlink"/>
                </a:solidFill>
                <a:hlinkClick r:id="rId5"/>
              </a:rPr>
              <a:t>higher ed</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hlinkClick r:id="rId6"/>
              </a:rPr>
              <a:t>More</a:t>
            </a:r>
            <a:r>
              <a:rPr lang="en" sz="1600"/>
              <a:t>, </a:t>
            </a:r>
            <a:r>
              <a:rPr lang="en" sz="1600" u="sng">
                <a:solidFill>
                  <a:schemeClr val="hlink"/>
                </a:solidFill>
                <a:hlinkClick r:id="rId7"/>
              </a:rPr>
              <a:t>more</a:t>
            </a:r>
            <a:r>
              <a:rPr lang="en" sz="1600"/>
              <a:t>, </a:t>
            </a:r>
            <a:r>
              <a:rPr lang="en" sz="1600" u="sng">
                <a:solidFill>
                  <a:schemeClr val="hlink"/>
                </a:solidFill>
                <a:hlinkClick r:id="rId8"/>
              </a:rPr>
              <a:t>more</a:t>
            </a:r>
            <a:endParaRPr sz="1600"/>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hlinkClick r:id="rId9"/>
              </a:rPr>
              <a:t>More</a:t>
            </a:r>
            <a:r>
              <a:rPr lang="en" sz="1600"/>
              <a:t>, </a:t>
            </a:r>
            <a:r>
              <a:rPr lang="en" sz="1600" u="sng">
                <a:solidFill>
                  <a:schemeClr val="hlink"/>
                </a:solidFill>
                <a:hlinkClick r:id="rId10"/>
              </a:rPr>
              <a:t>more</a:t>
            </a:r>
            <a:endParaRPr sz="1600"/>
          </a:p>
          <a:p>
            <a:pPr indent="0" lvl="0" marL="457200" rtl="0" algn="l">
              <a:lnSpc>
                <a:spcPct val="115000"/>
              </a:lnSpc>
              <a:spcBef>
                <a:spcPts val="0"/>
              </a:spcBef>
              <a:spcAft>
                <a:spcPts val="0"/>
              </a:spcAft>
              <a:buNone/>
            </a:pPr>
            <a:r>
              <a:t/>
            </a:r>
            <a:endParaRPr sz="1600"/>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hlinkClick r:id="rId11"/>
              </a:rPr>
              <a:t>More</a:t>
            </a:r>
            <a:endParaRPr sz="1600"/>
          </a:p>
          <a:p>
            <a:pPr indent="-330200" lvl="0" marL="457200" rtl="0" algn="l">
              <a:lnSpc>
                <a:spcPct val="115000"/>
              </a:lnSpc>
              <a:spcBef>
                <a:spcPts val="0"/>
              </a:spcBef>
              <a:spcAft>
                <a:spcPts val="0"/>
              </a:spcAft>
              <a:buSzPts val="1600"/>
              <a:buFont typeface="Open Sans"/>
              <a:buChar char="●"/>
            </a:pPr>
            <a:r>
              <a:rPr lang="en" sz="1600" u="sng">
                <a:solidFill>
                  <a:schemeClr val="hlink"/>
                </a:solidFill>
                <a:hlinkClick r:id="rId12"/>
              </a:rPr>
              <a:t>More</a:t>
            </a:r>
            <a:r>
              <a:rPr lang="en" sz="1600"/>
              <a:t>, </a:t>
            </a:r>
            <a:r>
              <a:rPr lang="en" sz="1600" u="sng">
                <a:solidFill>
                  <a:schemeClr val="hlink"/>
                </a:solidFill>
                <a:hlinkClick r:id="rId13"/>
              </a:rPr>
              <a:t>more</a:t>
            </a:r>
            <a:r>
              <a:rPr lang="en" sz="1600"/>
              <a:t>, </a:t>
            </a:r>
            <a:r>
              <a:rPr lang="en" sz="1600" u="sng">
                <a:solidFill>
                  <a:schemeClr val="hlink"/>
                </a:solidFill>
                <a:hlinkClick r:id="rId14"/>
              </a:rPr>
              <a:t>more</a:t>
            </a:r>
            <a:r>
              <a:rPr lang="en" sz="1600"/>
              <a:t>, </a:t>
            </a:r>
            <a:r>
              <a:rPr lang="en" sz="1600" u="sng">
                <a:solidFill>
                  <a:schemeClr val="hlink"/>
                </a:solidFill>
                <a:hlinkClick r:id="rId15"/>
              </a:rPr>
              <a:t>more</a:t>
            </a:r>
            <a:r>
              <a:rPr lang="en" sz="1600"/>
              <a:t>, </a:t>
            </a:r>
            <a:r>
              <a:rPr lang="en" sz="1600" u="sng">
                <a:solidFill>
                  <a:schemeClr val="hlink"/>
                </a:solidFill>
                <a:hlinkClick r:id="rId16"/>
              </a:rPr>
              <a:t>read</a:t>
            </a:r>
            <a:endParaRPr sz="1600"/>
          </a:p>
        </p:txBody>
      </p:sp>
      <p:sp>
        <p:nvSpPr>
          <p:cNvPr id="121" name="Google Shape;121;p19"/>
          <p:cNvSpPr txBox="1"/>
          <p:nvPr>
            <p:ph type="title"/>
          </p:nvPr>
        </p:nvSpPr>
        <p:spPr>
          <a:xfrm>
            <a:off x="155850" y="222513"/>
            <a:ext cx="4260300" cy="35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Answers:</a:t>
            </a:r>
            <a:endParaRPr/>
          </a:p>
        </p:txBody>
      </p:sp>
      <p:sp>
        <p:nvSpPr>
          <p:cNvPr id="122" name="Google Shape;122;p19"/>
          <p:cNvSpPr txBox="1"/>
          <p:nvPr/>
        </p:nvSpPr>
        <p:spPr>
          <a:xfrm>
            <a:off x="151275" y="1868625"/>
            <a:ext cx="4420800" cy="2979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17"/>
              </a:rPr>
              <a:t>Class size Reduction (CSR)</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18"/>
              </a:rPr>
              <a:t>Praxis</a:t>
            </a:r>
            <a:r>
              <a:rPr lang="en" sz="1600">
                <a:solidFill>
                  <a:schemeClr val="dk2"/>
                </a:solidFill>
                <a:latin typeface="Open Sans"/>
                <a:ea typeface="Open Sans"/>
                <a:cs typeface="Open Sans"/>
                <a:sym typeface="Open Sans"/>
              </a:rPr>
              <a:t> (NONE*) </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19"/>
              </a:rPr>
              <a:t>Getting a master’s degree</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20"/>
              </a:rPr>
              <a:t>Experience</a:t>
            </a:r>
            <a:r>
              <a:rPr lang="en" sz="1600">
                <a:solidFill>
                  <a:schemeClr val="dk2"/>
                </a:solidFill>
                <a:latin typeface="Open Sans"/>
                <a:ea typeface="Open Sans"/>
                <a:cs typeface="Open Sans"/>
                <a:sym typeface="Open Sans"/>
              </a:rPr>
              <a:t> (first five years) (LARGE)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21"/>
              </a:rPr>
              <a:t>Experience</a:t>
            </a:r>
            <a:r>
              <a:rPr lang="en" sz="1600">
                <a:solidFill>
                  <a:schemeClr val="dk2"/>
                </a:solidFill>
                <a:latin typeface="Open Sans"/>
                <a:ea typeface="Open Sans"/>
                <a:cs typeface="Open Sans"/>
                <a:sym typeface="Open Sans"/>
              </a:rPr>
              <a:t> (after first five) (SMALL)</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22"/>
              </a:rPr>
              <a:t>Parent Involvement</a:t>
            </a:r>
            <a:r>
              <a:rPr lang="en" sz="1600">
                <a:solidFill>
                  <a:schemeClr val="dk2"/>
                </a:solidFill>
                <a:latin typeface="Open Sans"/>
                <a:ea typeface="Open Sans"/>
                <a:cs typeface="Open Sans"/>
                <a:sym typeface="Open Sans"/>
              </a:rPr>
              <a:t> (SMALL**)</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23">
                  <a:extLst>
                    <a:ext uri="{A12FA001-AC4F-418D-AE19-62706E023703}">
                      <ahyp:hlinkClr val="tx"/>
                    </a:ext>
                  </a:extLst>
                </a:hlinkClick>
              </a:rPr>
              <a:t>Teacher Race</a:t>
            </a:r>
            <a:r>
              <a:rPr lang="en" sz="1600">
                <a:solidFill>
                  <a:schemeClr val="dk2"/>
                </a:solidFill>
                <a:latin typeface="Open Sans"/>
                <a:ea typeface="Open Sans"/>
                <a:cs typeface="Open Sans"/>
                <a:sym typeface="Open Sans"/>
              </a:rPr>
              <a:t> (SMALL)</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24"/>
              </a:rPr>
              <a:t>Computers and tech</a:t>
            </a:r>
            <a:r>
              <a:rPr lang="en" sz="1600">
                <a:solidFill>
                  <a:schemeClr val="dk2"/>
                </a:solidFill>
                <a:latin typeface="Open Sans"/>
                <a:ea typeface="Open Sans"/>
                <a:cs typeface="Open Sans"/>
                <a:sym typeface="Open Sans"/>
              </a:rPr>
              <a:t> (SMALL)</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25"/>
              </a:rPr>
              <a:t>Universal PreK</a:t>
            </a:r>
            <a:r>
              <a:rPr lang="en" sz="1600">
                <a:solidFill>
                  <a:schemeClr val="dk2"/>
                </a:solidFill>
                <a:latin typeface="Open Sans"/>
                <a:ea typeface="Open Sans"/>
                <a:cs typeface="Open Sans"/>
                <a:sym typeface="Open Sans"/>
              </a:rPr>
              <a:t> (NEGATIVE)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26">
                  <a:extLst>
                    <a:ext uri="{A12FA001-AC4F-418D-AE19-62706E023703}">
                      <ahyp:hlinkClr val="tx"/>
                    </a:ext>
                  </a:extLst>
                </a:hlinkClick>
              </a:rPr>
              <a:t>Teach for America</a:t>
            </a:r>
            <a:r>
              <a:rPr lang="en" sz="1600">
                <a:solidFill>
                  <a:schemeClr val="dk2"/>
                </a:solidFill>
                <a:latin typeface="Open Sans"/>
                <a:ea typeface="Open Sans"/>
                <a:cs typeface="Open Sans"/>
                <a:sym typeface="Open Sans"/>
              </a:rPr>
              <a:t> (SMALL)</a:t>
            </a:r>
            <a:endParaRPr sz="1600">
              <a:solidFill>
                <a:schemeClr val="dk2"/>
              </a:solidFill>
              <a:latin typeface="Open Sans"/>
              <a:ea typeface="Open Sans"/>
              <a:cs typeface="Open Sans"/>
              <a:sym typeface="Open Sans"/>
            </a:endParaRPr>
          </a:p>
        </p:txBody>
      </p:sp>
      <p:sp>
        <p:nvSpPr>
          <p:cNvPr id="123" name="Google Shape;123;p19"/>
          <p:cNvSpPr txBox="1"/>
          <p:nvPr/>
        </p:nvSpPr>
        <p:spPr>
          <a:xfrm>
            <a:off x="0" y="4897200"/>
            <a:ext cx="627000" cy="2463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lang="en" sz="1000">
                <a:solidFill>
                  <a:schemeClr val="dk1"/>
                </a:solidFill>
                <a:latin typeface="Calibri"/>
                <a:ea typeface="Calibri"/>
                <a:cs typeface="Calibri"/>
                <a:sym typeface="Calibri"/>
              </a:rPr>
              <a:t>Practice</a:t>
            </a:r>
            <a:endParaRPr sz="1000"/>
          </a:p>
        </p:txBody>
      </p:sp>
      <p:sp>
        <p:nvSpPr>
          <p:cNvPr id="124" name="Google Shape;124;p19"/>
          <p:cNvSpPr txBox="1"/>
          <p:nvPr>
            <p:ph idx="1" type="body"/>
          </p:nvPr>
        </p:nvSpPr>
        <p:spPr>
          <a:xfrm>
            <a:off x="311700" y="1266325"/>
            <a:ext cx="8520600" cy="48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275"/>
              <a:buNone/>
            </a:pPr>
            <a:r>
              <a:rPr lang="en" sz="1750"/>
              <a:t>None: SQUAT. 				Small: SIT.				Large: STAND</a:t>
            </a:r>
            <a:endParaRPr sz="1750"/>
          </a:p>
          <a:p>
            <a:pPr indent="0" lvl="0" marL="0" rtl="0" algn="l">
              <a:spcBef>
                <a:spcPts val="1200"/>
              </a:spcBef>
              <a:spcAft>
                <a:spcPts val="1200"/>
              </a:spcAft>
              <a:buSzPts val="275"/>
              <a:buNone/>
            </a:pPr>
            <a:r>
              <a:t/>
            </a:r>
            <a:endParaRPr sz="175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155850" y="222513"/>
            <a:ext cx="4260300" cy="35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Answers:</a:t>
            </a:r>
            <a:endParaRPr/>
          </a:p>
        </p:txBody>
      </p:sp>
      <p:sp>
        <p:nvSpPr>
          <p:cNvPr id="130" name="Google Shape;130;p20"/>
          <p:cNvSpPr txBox="1"/>
          <p:nvPr/>
        </p:nvSpPr>
        <p:spPr>
          <a:xfrm>
            <a:off x="4871175" y="1868625"/>
            <a:ext cx="4420800" cy="25551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3"/>
              </a:rPr>
              <a:t>More</a:t>
            </a:r>
            <a:r>
              <a:rPr lang="en" sz="1600">
                <a:solidFill>
                  <a:schemeClr val="dk2"/>
                </a:solidFill>
                <a:latin typeface="Open Sans"/>
                <a:ea typeface="Open Sans"/>
                <a:cs typeface="Open Sans"/>
                <a:sym typeface="Open Sans"/>
              </a:rPr>
              <a:t>, </a:t>
            </a:r>
            <a:r>
              <a:rPr lang="en" sz="1600" u="sng">
                <a:solidFill>
                  <a:schemeClr val="hlink"/>
                </a:solidFill>
                <a:latin typeface="Open Sans"/>
                <a:ea typeface="Open Sans"/>
                <a:cs typeface="Open Sans"/>
                <a:sym typeface="Open Sans"/>
                <a:hlinkClick r:id="rId4"/>
              </a:rPr>
              <a:t>more</a:t>
            </a:r>
            <a:r>
              <a:rPr lang="en" sz="1600">
                <a:solidFill>
                  <a:schemeClr val="dk2"/>
                </a:solidFill>
                <a:latin typeface="Open Sans"/>
                <a:ea typeface="Open Sans"/>
                <a:cs typeface="Open Sans"/>
                <a:sym typeface="Open Sans"/>
              </a:rPr>
              <a:t>, </a:t>
            </a:r>
            <a:r>
              <a:rPr lang="en" sz="1600" u="sng">
                <a:solidFill>
                  <a:schemeClr val="hlink"/>
                </a:solidFill>
                <a:latin typeface="Open Sans"/>
                <a:ea typeface="Open Sans"/>
                <a:cs typeface="Open Sans"/>
                <a:sym typeface="Open Sans"/>
                <a:hlinkClick r:id="rId5"/>
              </a:rPr>
              <a:t>more</a:t>
            </a:r>
            <a:r>
              <a:rPr lang="en" sz="1600">
                <a:solidFill>
                  <a:schemeClr val="dk2"/>
                </a:solidFill>
                <a:latin typeface="Open Sans"/>
                <a:ea typeface="Open Sans"/>
                <a:cs typeface="Open Sans"/>
                <a:sym typeface="Open Sans"/>
              </a:rPr>
              <a:t>, </a:t>
            </a:r>
            <a:r>
              <a:rPr lang="en" sz="1600" u="sng">
                <a:solidFill>
                  <a:schemeClr val="hlink"/>
                </a:solidFill>
                <a:latin typeface="Open Sans"/>
                <a:ea typeface="Open Sans"/>
                <a:cs typeface="Open Sans"/>
                <a:sym typeface="Open Sans"/>
                <a:hlinkClick r:id="rId6"/>
              </a:rPr>
              <a:t>more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a:solidFill>
                  <a:schemeClr val="dk2"/>
                </a:solidFill>
                <a:latin typeface="Open Sans"/>
                <a:ea typeface="Open Sans"/>
                <a:cs typeface="Open Sans"/>
                <a:sym typeface="Open Sans"/>
              </a:rPr>
              <a:t>Robust.</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7"/>
              </a:rPr>
              <a:t>More</a:t>
            </a:r>
            <a:r>
              <a:rPr lang="en" sz="1600">
                <a:solidFill>
                  <a:schemeClr val="dk2"/>
                </a:solidFill>
                <a:latin typeface="Open Sans"/>
                <a:ea typeface="Open Sans"/>
                <a:cs typeface="Open Sans"/>
                <a:sym typeface="Open Sans"/>
              </a:rPr>
              <a:t>, </a:t>
            </a:r>
            <a:r>
              <a:rPr lang="en" sz="1600" u="sng">
                <a:solidFill>
                  <a:schemeClr val="hlink"/>
                </a:solidFill>
                <a:latin typeface="Open Sans"/>
                <a:ea typeface="Open Sans"/>
                <a:cs typeface="Open Sans"/>
                <a:sym typeface="Open Sans"/>
                <a:hlinkClick r:id="rId8"/>
              </a:rPr>
              <a:t>more</a:t>
            </a:r>
            <a:r>
              <a:rPr lang="en" sz="1600">
                <a:solidFill>
                  <a:schemeClr val="dk2"/>
                </a:solidFill>
                <a:latin typeface="Open Sans"/>
                <a:ea typeface="Open Sans"/>
                <a:cs typeface="Open Sans"/>
                <a:sym typeface="Open Sans"/>
              </a:rPr>
              <a:t>, </a:t>
            </a:r>
            <a:r>
              <a:rPr lang="en" sz="1600" u="sng">
                <a:solidFill>
                  <a:schemeClr val="hlink"/>
                </a:solidFill>
                <a:latin typeface="Open Sans"/>
                <a:ea typeface="Open Sans"/>
                <a:cs typeface="Open Sans"/>
                <a:sym typeface="Open Sans"/>
                <a:hlinkClick r:id="rId9"/>
              </a:rPr>
              <a:t>more</a:t>
            </a:r>
            <a:r>
              <a:rPr lang="en" sz="1600">
                <a:solidFill>
                  <a:schemeClr val="dk2"/>
                </a:solidFill>
                <a:latin typeface="Open Sans"/>
                <a:ea typeface="Open Sans"/>
                <a:cs typeface="Open Sans"/>
                <a:sym typeface="Open Sans"/>
              </a:rPr>
              <a:t>, </a:t>
            </a:r>
            <a:r>
              <a:rPr lang="en" sz="1600" u="sng">
                <a:solidFill>
                  <a:schemeClr val="hlink"/>
                </a:solidFill>
                <a:latin typeface="Open Sans"/>
                <a:ea typeface="Open Sans"/>
                <a:cs typeface="Open Sans"/>
                <a:sym typeface="Open Sans"/>
                <a:hlinkClick r:id="rId10"/>
              </a:rPr>
              <a:t>more</a:t>
            </a:r>
            <a:r>
              <a:rPr lang="en"/>
              <a:t>, </a:t>
            </a:r>
            <a:r>
              <a:rPr lang="en" u="sng">
                <a:solidFill>
                  <a:schemeClr val="hlink"/>
                </a:solidFill>
                <a:hlinkClick r:id="rId11"/>
              </a:rPr>
              <a:t>more</a:t>
            </a:r>
            <a:endParaRPr/>
          </a:p>
          <a:p>
            <a:pPr indent="-330200" lvl="0" marL="457200" rtl="0" algn="l">
              <a:lnSpc>
                <a:spcPct val="115000"/>
              </a:lnSpc>
              <a:spcBef>
                <a:spcPts val="0"/>
              </a:spcBef>
              <a:spcAft>
                <a:spcPts val="0"/>
              </a:spcAft>
              <a:buClr>
                <a:schemeClr val="dk2"/>
              </a:buClr>
              <a:buSzPts val="1600"/>
              <a:buFont typeface="Open Sans"/>
              <a:buChar char="●"/>
            </a:pPr>
            <a:r>
              <a:rPr lang="en" sz="1200" u="sng">
                <a:solidFill>
                  <a:schemeClr val="hlink"/>
                </a:solidFill>
                <a:latin typeface="Open Sans"/>
                <a:ea typeface="Open Sans"/>
                <a:cs typeface="Open Sans"/>
                <a:sym typeface="Open Sans"/>
                <a:hlinkClick r:id="rId12"/>
              </a:rPr>
              <a:t>More</a:t>
            </a:r>
            <a:r>
              <a:rPr lang="en" sz="1200">
                <a:solidFill>
                  <a:schemeClr val="dk2"/>
                </a:solidFill>
                <a:latin typeface="Open Sans"/>
                <a:ea typeface="Open Sans"/>
                <a:cs typeface="Open Sans"/>
                <a:sym typeface="Open Sans"/>
              </a:rPr>
              <a:t>, </a:t>
            </a:r>
            <a:r>
              <a:rPr lang="en" sz="1200" u="sng">
                <a:solidFill>
                  <a:schemeClr val="hlink"/>
                </a:solidFill>
                <a:latin typeface="Open Sans"/>
                <a:ea typeface="Open Sans"/>
                <a:cs typeface="Open Sans"/>
                <a:sym typeface="Open Sans"/>
                <a:hlinkClick r:id="rId13"/>
              </a:rPr>
              <a:t>more</a:t>
            </a:r>
            <a:r>
              <a:rPr lang="en" sz="1200">
                <a:solidFill>
                  <a:schemeClr val="dk2"/>
                </a:solidFill>
                <a:latin typeface="Open Sans"/>
                <a:ea typeface="Open Sans"/>
                <a:cs typeface="Open Sans"/>
                <a:sym typeface="Open Sans"/>
              </a:rPr>
              <a:t>, </a:t>
            </a:r>
            <a:r>
              <a:rPr lang="en" sz="1200" u="sng">
                <a:solidFill>
                  <a:schemeClr val="hlink"/>
                </a:solidFill>
                <a:latin typeface="Open Sans"/>
                <a:ea typeface="Open Sans"/>
                <a:cs typeface="Open Sans"/>
                <a:sym typeface="Open Sans"/>
                <a:hlinkClick r:id="rId14"/>
              </a:rPr>
              <a:t>more</a:t>
            </a:r>
            <a:r>
              <a:rPr lang="en" sz="1200">
                <a:solidFill>
                  <a:schemeClr val="dk2"/>
                </a:solidFill>
                <a:latin typeface="Open Sans"/>
                <a:ea typeface="Open Sans"/>
                <a:cs typeface="Open Sans"/>
                <a:sym typeface="Open Sans"/>
              </a:rPr>
              <a:t>, </a:t>
            </a:r>
            <a:r>
              <a:rPr lang="en" sz="1200" u="sng">
                <a:solidFill>
                  <a:schemeClr val="hlink"/>
                </a:solidFill>
                <a:latin typeface="Open Sans"/>
                <a:ea typeface="Open Sans"/>
                <a:cs typeface="Open Sans"/>
                <a:sym typeface="Open Sans"/>
                <a:hlinkClick r:id="rId15"/>
              </a:rPr>
              <a:t>more</a:t>
            </a:r>
            <a:r>
              <a:rPr lang="en" sz="1200">
                <a:solidFill>
                  <a:schemeClr val="dk2"/>
                </a:solidFill>
                <a:latin typeface="Open Sans"/>
                <a:ea typeface="Open Sans"/>
                <a:cs typeface="Open Sans"/>
                <a:sym typeface="Open Sans"/>
              </a:rPr>
              <a:t>, </a:t>
            </a:r>
            <a:r>
              <a:rPr lang="en" sz="1200" u="sng">
                <a:solidFill>
                  <a:schemeClr val="hlink"/>
                </a:solidFill>
                <a:latin typeface="Open Sans"/>
                <a:ea typeface="Open Sans"/>
                <a:cs typeface="Open Sans"/>
                <a:sym typeface="Open Sans"/>
                <a:hlinkClick r:id="rId16"/>
              </a:rPr>
              <a:t>more</a:t>
            </a:r>
            <a:r>
              <a:rPr lang="en" sz="1200">
                <a:solidFill>
                  <a:schemeClr val="dk2"/>
                </a:solidFill>
                <a:latin typeface="Open Sans"/>
                <a:ea typeface="Open Sans"/>
                <a:cs typeface="Open Sans"/>
                <a:sym typeface="Open Sans"/>
              </a:rPr>
              <a:t>, </a:t>
            </a:r>
            <a:r>
              <a:rPr lang="en" sz="1200" u="sng">
                <a:solidFill>
                  <a:schemeClr val="hlink"/>
                </a:solidFill>
                <a:latin typeface="Open Sans"/>
                <a:ea typeface="Open Sans"/>
                <a:cs typeface="Open Sans"/>
                <a:sym typeface="Open Sans"/>
                <a:hlinkClick r:id="rId17"/>
              </a:rPr>
              <a:t>more</a:t>
            </a:r>
            <a:r>
              <a:rPr lang="en" sz="1200">
                <a:solidFill>
                  <a:schemeClr val="dk2"/>
                </a:solidFill>
                <a:latin typeface="Open Sans"/>
                <a:ea typeface="Open Sans"/>
                <a:cs typeface="Open Sans"/>
                <a:sym typeface="Open Sans"/>
              </a:rPr>
              <a:t>, </a:t>
            </a:r>
            <a:r>
              <a:rPr lang="en" sz="1200" u="sng">
                <a:solidFill>
                  <a:schemeClr val="hlink"/>
                </a:solidFill>
                <a:latin typeface="Open Sans"/>
                <a:ea typeface="Open Sans"/>
                <a:cs typeface="Open Sans"/>
                <a:sym typeface="Open Sans"/>
                <a:hlinkClick r:id="rId18"/>
              </a:rPr>
              <a:t>more</a:t>
            </a:r>
            <a:r>
              <a:rPr lang="en" sz="1200">
                <a:solidFill>
                  <a:schemeClr val="dk2"/>
                </a:solidFill>
                <a:latin typeface="Open Sans"/>
                <a:ea typeface="Open Sans"/>
                <a:cs typeface="Open Sans"/>
                <a:sym typeface="Open Sans"/>
              </a:rPr>
              <a:t>, </a:t>
            </a:r>
            <a:r>
              <a:rPr lang="en" sz="1200" u="sng">
                <a:solidFill>
                  <a:schemeClr val="hlink"/>
                </a:solidFill>
                <a:latin typeface="Open Sans"/>
                <a:ea typeface="Open Sans"/>
                <a:cs typeface="Open Sans"/>
                <a:sym typeface="Open Sans"/>
                <a:hlinkClick r:id="rId19"/>
              </a:rPr>
              <a:t>more</a:t>
            </a:r>
            <a:endParaRPr sz="1200">
              <a:solidFill>
                <a:schemeClr val="dk2"/>
              </a:solidFill>
              <a:latin typeface="Open Sans"/>
              <a:ea typeface="Open Sans"/>
              <a:cs typeface="Open Sans"/>
              <a:sym typeface="Open Sans"/>
            </a:endParaRPr>
          </a:p>
          <a:p>
            <a:pPr indent="-304800" lvl="0" marL="457200" rtl="0" algn="l">
              <a:lnSpc>
                <a:spcPct val="115000"/>
              </a:lnSpc>
              <a:spcBef>
                <a:spcPts val="0"/>
              </a:spcBef>
              <a:spcAft>
                <a:spcPts val="0"/>
              </a:spcAft>
              <a:buClr>
                <a:schemeClr val="dk2"/>
              </a:buClr>
              <a:buSzPts val="1200"/>
              <a:buFont typeface="Open Sans"/>
              <a:buChar char="●"/>
            </a:pPr>
            <a:r>
              <a:rPr lang="en" sz="1200" u="sng">
                <a:solidFill>
                  <a:schemeClr val="hlink"/>
                </a:solidFill>
                <a:latin typeface="Open Sans"/>
                <a:ea typeface="Open Sans"/>
                <a:cs typeface="Open Sans"/>
                <a:sym typeface="Open Sans"/>
                <a:hlinkClick r:id="rId20"/>
              </a:rPr>
              <a:t>More</a:t>
            </a:r>
            <a:r>
              <a:rPr lang="en" sz="1200">
                <a:solidFill>
                  <a:schemeClr val="dk2"/>
                </a:solidFill>
                <a:latin typeface="Open Sans"/>
                <a:ea typeface="Open Sans"/>
                <a:cs typeface="Open Sans"/>
                <a:sym typeface="Open Sans"/>
              </a:rPr>
              <a:t>, </a:t>
            </a:r>
            <a:r>
              <a:rPr lang="en" sz="1200" u="sng">
                <a:solidFill>
                  <a:schemeClr val="hlink"/>
                </a:solidFill>
                <a:latin typeface="Open Sans"/>
                <a:ea typeface="Open Sans"/>
                <a:cs typeface="Open Sans"/>
                <a:sym typeface="Open Sans"/>
                <a:hlinkClick r:id="rId21"/>
              </a:rPr>
              <a:t>more</a:t>
            </a:r>
            <a:r>
              <a:rPr lang="en" sz="1200">
                <a:solidFill>
                  <a:schemeClr val="dk2"/>
                </a:solidFill>
                <a:latin typeface="Open Sans"/>
                <a:ea typeface="Open Sans"/>
                <a:cs typeface="Open Sans"/>
                <a:sym typeface="Open Sans"/>
              </a:rPr>
              <a:t>, </a:t>
            </a:r>
            <a:r>
              <a:rPr lang="en" sz="1200" u="sng">
                <a:solidFill>
                  <a:schemeClr val="hlink"/>
                </a:solidFill>
                <a:latin typeface="Open Sans"/>
                <a:ea typeface="Open Sans"/>
                <a:cs typeface="Open Sans"/>
                <a:sym typeface="Open Sans"/>
                <a:hlinkClick r:id="rId22"/>
              </a:rPr>
              <a:t>more</a:t>
            </a:r>
            <a:r>
              <a:rPr lang="en" sz="1200">
                <a:solidFill>
                  <a:schemeClr val="dk2"/>
                </a:solidFill>
                <a:latin typeface="Open Sans"/>
                <a:ea typeface="Open Sans"/>
                <a:cs typeface="Open Sans"/>
                <a:sym typeface="Open Sans"/>
              </a:rPr>
              <a:t>, </a:t>
            </a:r>
            <a:r>
              <a:rPr lang="en" sz="1200" u="sng">
                <a:solidFill>
                  <a:schemeClr val="hlink"/>
                </a:solidFill>
                <a:latin typeface="Open Sans"/>
                <a:ea typeface="Open Sans"/>
                <a:cs typeface="Open Sans"/>
                <a:sym typeface="Open Sans"/>
                <a:hlinkClick r:id="rId23"/>
              </a:rPr>
              <a:t>more</a:t>
            </a:r>
            <a:r>
              <a:rPr lang="en" sz="1200">
                <a:solidFill>
                  <a:schemeClr val="dk2"/>
                </a:solidFill>
                <a:latin typeface="Open Sans"/>
                <a:ea typeface="Open Sans"/>
                <a:cs typeface="Open Sans"/>
                <a:sym typeface="Open Sans"/>
              </a:rPr>
              <a:t>, </a:t>
            </a:r>
            <a:r>
              <a:rPr lang="en" sz="1200" u="sng">
                <a:solidFill>
                  <a:schemeClr val="hlink"/>
                </a:solidFill>
                <a:latin typeface="Open Sans"/>
                <a:ea typeface="Open Sans"/>
                <a:cs typeface="Open Sans"/>
                <a:sym typeface="Open Sans"/>
                <a:hlinkClick r:id="rId24"/>
              </a:rPr>
              <a:t>more</a:t>
            </a:r>
            <a:r>
              <a:rPr lang="en" sz="1200">
                <a:solidFill>
                  <a:schemeClr val="dk2"/>
                </a:solidFill>
                <a:latin typeface="Open Sans"/>
                <a:ea typeface="Open Sans"/>
                <a:cs typeface="Open Sans"/>
                <a:sym typeface="Open Sans"/>
              </a:rPr>
              <a:t>, </a:t>
            </a:r>
            <a:r>
              <a:rPr lang="en" sz="1200" u="sng">
                <a:solidFill>
                  <a:schemeClr val="hlink"/>
                </a:solidFill>
                <a:latin typeface="Open Sans"/>
                <a:ea typeface="Open Sans"/>
                <a:cs typeface="Open Sans"/>
                <a:sym typeface="Open Sans"/>
                <a:hlinkClick r:id="rId25"/>
              </a:rPr>
              <a:t>more</a:t>
            </a:r>
            <a:r>
              <a:rPr lang="en" sz="1200">
                <a:solidFill>
                  <a:schemeClr val="dk2"/>
                </a:solidFill>
                <a:latin typeface="Open Sans"/>
                <a:ea typeface="Open Sans"/>
                <a:cs typeface="Open Sans"/>
                <a:sym typeface="Open Sans"/>
              </a:rPr>
              <a:t>, </a:t>
            </a:r>
            <a:r>
              <a:rPr lang="en" sz="1200" u="sng">
                <a:solidFill>
                  <a:schemeClr val="hlink"/>
                </a:solidFill>
                <a:latin typeface="Open Sans"/>
                <a:ea typeface="Open Sans"/>
                <a:cs typeface="Open Sans"/>
                <a:sym typeface="Open Sans"/>
                <a:hlinkClick r:id="rId26"/>
              </a:rPr>
              <a:t>more</a:t>
            </a:r>
            <a:r>
              <a:rPr lang="en" sz="1200">
                <a:solidFill>
                  <a:schemeClr val="dk2"/>
                </a:solidFill>
                <a:latin typeface="Open Sans"/>
                <a:ea typeface="Open Sans"/>
                <a:cs typeface="Open Sans"/>
                <a:sym typeface="Open Sans"/>
              </a:rPr>
              <a:t>, </a:t>
            </a:r>
            <a:r>
              <a:rPr lang="en" sz="1200" u="sng">
                <a:solidFill>
                  <a:schemeClr val="hlink"/>
                </a:solidFill>
                <a:latin typeface="Open Sans"/>
                <a:ea typeface="Open Sans"/>
                <a:cs typeface="Open Sans"/>
                <a:sym typeface="Open Sans"/>
                <a:hlinkClick r:id="rId27"/>
              </a:rPr>
              <a:t>more</a:t>
            </a:r>
            <a:r>
              <a:rPr lang="en" sz="1200">
                <a:solidFill>
                  <a:schemeClr val="dk2"/>
                </a:solidFill>
                <a:latin typeface="Open Sans"/>
                <a:ea typeface="Open Sans"/>
                <a:cs typeface="Open Sans"/>
                <a:sym typeface="Open Sans"/>
              </a:rPr>
              <a:t>, </a:t>
            </a:r>
            <a:r>
              <a:rPr lang="en" sz="1200" u="sng">
                <a:solidFill>
                  <a:schemeClr val="hlink"/>
                </a:solidFill>
                <a:latin typeface="Open Sans"/>
                <a:ea typeface="Open Sans"/>
                <a:cs typeface="Open Sans"/>
                <a:sym typeface="Open Sans"/>
                <a:hlinkClick r:id="rId28"/>
              </a:rPr>
              <a:t>more</a:t>
            </a:r>
            <a:endParaRPr sz="12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29"/>
              </a:rPr>
              <a:t>More</a:t>
            </a:r>
            <a:r>
              <a:rPr lang="en" sz="1600">
                <a:solidFill>
                  <a:schemeClr val="dk2"/>
                </a:solidFill>
                <a:latin typeface="Open Sans"/>
                <a:ea typeface="Open Sans"/>
                <a:cs typeface="Open Sans"/>
                <a:sym typeface="Open Sans"/>
              </a:rPr>
              <a:t> (teachers don’t even use it!) </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30"/>
              </a:rPr>
              <a:t>More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31"/>
              </a:rPr>
              <a:t>Defined by Hattie</a:t>
            </a:r>
            <a:endParaRPr sz="1600">
              <a:solidFill>
                <a:schemeClr val="dk2"/>
              </a:solidFill>
              <a:latin typeface="Open Sans"/>
              <a:ea typeface="Open Sans"/>
              <a:cs typeface="Open Sans"/>
              <a:sym typeface="Open Sans"/>
            </a:endParaRPr>
          </a:p>
        </p:txBody>
      </p:sp>
      <p:sp>
        <p:nvSpPr>
          <p:cNvPr id="131" name="Google Shape;131;p20"/>
          <p:cNvSpPr txBox="1"/>
          <p:nvPr/>
        </p:nvSpPr>
        <p:spPr>
          <a:xfrm>
            <a:off x="0" y="4897200"/>
            <a:ext cx="627000" cy="2463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t/>
            </a:r>
            <a:endParaRPr sz="1000"/>
          </a:p>
        </p:txBody>
      </p:sp>
      <p:sp>
        <p:nvSpPr>
          <p:cNvPr id="132" name="Google Shape;132;p20"/>
          <p:cNvSpPr txBox="1"/>
          <p:nvPr/>
        </p:nvSpPr>
        <p:spPr>
          <a:xfrm>
            <a:off x="492400" y="1868625"/>
            <a:ext cx="4420800" cy="2979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32"/>
              </a:rPr>
              <a:t>School funding</a:t>
            </a:r>
            <a:r>
              <a:rPr lang="en" sz="1600">
                <a:solidFill>
                  <a:schemeClr val="dk2"/>
                </a:solidFill>
                <a:latin typeface="Open Sans"/>
                <a:ea typeface="Open Sans"/>
                <a:cs typeface="Open Sans"/>
                <a:sym typeface="Open Sans"/>
              </a:rPr>
              <a:t>*** (NONE) </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33"/>
              </a:rPr>
              <a:t>Teacher effectiveness</a:t>
            </a:r>
            <a:r>
              <a:rPr lang="en" sz="1600">
                <a:solidFill>
                  <a:schemeClr val="dk2"/>
                </a:solidFill>
                <a:latin typeface="Open Sans"/>
                <a:ea typeface="Open Sans"/>
                <a:cs typeface="Open Sans"/>
                <a:sym typeface="Open Sans"/>
              </a:rPr>
              <a:t> (LARGE)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34"/>
              </a:rPr>
              <a:t>Professional development</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35"/>
              </a:rPr>
              <a:t>Teacher Pay</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36"/>
              </a:rPr>
              <a:t>Credentialing </a:t>
            </a:r>
            <a:r>
              <a:rPr lang="en" sz="1600">
                <a:solidFill>
                  <a:schemeClr val="dk2"/>
                </a:solidFill>
                <a:latin typeface="Open Sans"/>
                <a:ea typeface="Open Sans"/>
                <a:cs typeface="Open Sans"/>
                <a:sym typeface="Open Sans"/>
              </a:rPr>
              <a:t>(NONE)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37"/>
              </a:rPr>
              <a:t>Curriculum</a:t>
            </a:r>
            <a:r>
              <a:rPr lang="en" sz="1600">
                <a:solidFill>
                  <a:schemeClr val="dk2"/>
                </a:solidFill>
                <a:latin typeface="Open Sans"/>
                <a:ea typeface="Open Sans"/>
                <a:cs typeface="Open Sans"/>
                <a:sym typeface="Open Sans"/>
              </a:rPr>
              <a:t>*** (NONE) </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38"/>
              </a:rPr>
              <a:t>Family income (poverty)</a:t>
            </a:r>
            <a:r>
              <a:rPr lang="en" sz="1600">
                <a:solidFill>
                  <a:schemeClr val="dk2"/>
                </a:solidFill>
                <a:latin typeface="Open Sans"/>
                <a:ea typeface="Open Sans"/>
                <a:cs typeface="Open Sans"/>
                <a:sym typeface="Open Sans"/>
              </a:rPr>
              <a:t> (LARGE)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39"/>
              </a:rPr>
              <a:t>Teacher mindsets</a:t>
            </a:r>
            <a:r>
              <a:rPr lang="en" sz="1600">
                <a:solidFill>
                  <a:schemeClr val="dk2"/>
                </a:solidFill>
                <a:latin typeface="Open Sans"/>
                <a:ea typeface="Open Sans"/>
                <a:cs typeface="Open Sans"/>
                <a:sym typeface="Open Sans"/>
              </a:rPr>
              <a:t> (Large)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40"/>
              </a:rPr>
              <a:t>Matching learning styles</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hlink"/>
                </a:solidFill>
                <a:latin typeface="Open Sans"/>
                <a:ea typeface="Open Sans"/>
                <a:cs typeface="Open Sans"/>
                <a:sym typeface="Open Sans"/>
                <a:hlinkClick r:id="rId41"/>
              </a:rPr>
              <a:t>No Excuses Charters</a:t>
            </a:r>
            <a:r>
              <a:rPr lang="en" sz="1600">
                <a:solidFill>
                  <a:schemeClr val="dk2"/>
                </a:solidFill>
                <a:latin typeface="Open Sans"/>
                <a:ea typeface="Open Sans"/>
                <a:cs typeface="Open Sans"/>
                <a:sym typeface="Open Sans"/>
              </a:rPr>
              <a:t> (SMALL)</a:t>
            </a:r>
            <a:endParaRPr sz="1600">
              <a:solidFill>
                <a:schemeClr val="dk2"/>
              </a:solidFill>
              <a:latin typeface="Open Sans"/>
              <a:ea typeface="Open Sans"/>
              <a:cs typeface="Open Sans"/>
              <a:sym typeface="Open Sans"/>
            </a:endParaRPr>
          </a:p>
        </p:txBody>
      </p:sp>
      <p:sp>
        <p:nvSpPr>
          <p:cNvPr id="133" name="Google Shape;133;p20"/>
          <p:cNvSpPr txBox="1"/>
          <p:nvPr>
            <p:ph idx="1" type="body"/>
          </p:nvPr>
        </p:nvSpPr>
        <p:spPr>
          <a:xfrm>
            <a:off x="311700" y="1266325"/>
            <a:ext cx="8520600" cy="48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275"/>
              <a:buNone/>
            </a:pPr>
            <a:r>
              <a:rPr lang="en" sz="1750"/>
              <a:t>None: SQUAT. 				Small: SIT.				Large: STAND</a:t>
            </a:r>
            <a:endParaRPr sz="1750"/>
          </a:p>
          <a:p>
            <a:pPr indent="0" lvl="0" marL="0" rtl="0" algn="l">
              <a:spcBef>
                <a:spcPts val="1200"/>
              </a:spcBef>
              <a:spcAft>
                <a:spcPts val="1200"/>
              </a:spcAft>
              <a:buSzPts val="275"/>
              <a:buNone/>
            </a:pPr>
            <a:r>
              <a:t/>
            </a:r>
            <a:endParaRPr sz="175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Works for PTC Course Spring 2025</a:t>
            </a:r>
            <a:endParaRPr/>
          </a:p>
        </p:txBody>
      </p:sp>
      <p:sp>
        <p:nvSpPr>
          <p:cNvPr id="139" name="Google Shape;13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155850" y="222513"/>
            <a:ext cx="4260300" cy="35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Works?</a:t>
            </a:r>
            <a:endParaRPr/>
          </a:p>
        </p:txBody>
      </p:sp>
      <p:sp>
        <p:nvSpPr>
          <p:cNvPr id="145" name="Google Shape;145;p22"/>
          <p:cNvSpPr txBox="1"/>
          <p:nvPr>
            <p:ph idx="1" type="body"/>
          </p:nvPr>
        </p:nvSpPr>
        <p:spPr>
          <a:xfrm>
            <a:off x="311700" y="1266325"/>
            <a:ext cx="8520600" cy="48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275"/>
              <a:buNone/>
            </a:pPr>
            <a:r>
              <a:rPr lang="en" sz="1950">
                <a:latin typeface="Times New Roman"/>
                <a:ea typeface="Times New Roman"/>
                <a:cs typeface="Times New Roman"/>
                <a:sym typeface="Times New Roman"/>
              </a:rPr>
              <a:t>None: SQUAT. 			Small or Medium: SIT 		Large: STAND</a:t>
            </a:r>
            <a:endParaRPr sz="1950">
              <a:latin typeface="Times New Roman"/>
              <a:ea typeface="Times New Roman"/>
              <a:cs typeface="Times New Roman"/>
              <a:sym typeface="Times New Roman"/>
            </a:endParaRPr>
          </a:p>
          <a:p>
            <a:pPr indent="0" lvl="0" marL="0" rtl="0" algn="l">
              <a:spcBef>
                <a:spcPts val="1200"/>
              </a:spcBef>
              <a:spcAft>
                <a:spcPts val="1200"/>
              </a:spcAft>
              <a:buSzPts val="275"/>
              <a:buNone/>
            </a:pPr>
            <a:r>
              <a:t/>
            </a:r>
            <a:endParaRPr sz="1950">
              <a:latin typeface="Times New Roman"/>
              <a:ea typeface="Times New Roman"/>
              <a:cs typeface="Times New Roman"/>
              <a:sym typeface="Times New Roman"/>
            </a:endParaRPr>
          </a:p>
        </p:txBody>
      </p:sp>
      <p:sp>
        <p:nvSpPr>
          <p:cNvPr id="146" name="Google Shape;146;p22"/>
          <p:cNvSpPr txBox="1"/>
          <p:nvPr/>
        </p:nvSpPr>
        <p:spPr>
          <a:xfrm>
            <a:off x="421650" y="1913450"/>
            <a:ext cx="4449600" cy="2979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Class size reduction (CSR)</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Highlighting/Underlining</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More education (e.g. master’s degree)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Retrieval Practice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Homework (Elementary)</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Inquiry Learning</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Think, Pair, Share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Computers and tech</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Universal PreK</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Formative Feedback</a:t>
            </a:r>
            <a:endParaRPr sz="1600">
              <a:solidFill>
                <a:schemeClr val="dk2"/>
              </a:solidFill>
              <a:latin typeface="Times New Roman"/>
              <a:ea typeface="Times New Roman"/>
              <a:cs typeface="Times New Roman"/>
              <a:sym typeface="Times New Roman"/>
            </a:endParaRPr>
          </a:p>
        </p:txBody>
      </p:sp>
      <p:sp>
        <p:nvSpPr>
          <p:cNvPr id="147" name="Google Shape;147;p22"/>
          <p:cNvSpPr txBox="1"/>
          <p:nvPr/>
        </p:nvSpPr>
        <p:spPr>
          <a:xfrm>
            <a:off x="4871175" y="1868625"/>
            <a:ext cx="4139700" cy="2979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School funding</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Teacher effectiveness</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Professional development</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Teacher Pay</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Massed Practice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Round Robin Reading</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Credentials/Credentialing</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Interleaved Practice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Matching learning styles</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Graphic Organizers/Picture Synthesis</a:t>
            </a:r>
            <a:endParaRPr sz="1600">
              <a:solidFill>
                <a:schemeClr val="dk2"/>
              </a:solidFill>
              <a:latin typeface="Times New Roman"/>
              <a:ea typeface="Times New Roman"/>
              <a:cs typeface="Times New Roman"/>
              <a:sym typeface="Times New Roman"/>
            </a:endParaRPr>
          </a:p>
        </p:txBody>
      </p:sp>
      <p:sp>
        <p:nvSpPr>
          <p:cNvPr id="148" name="Google Shape;148;p22"/>
          <p:cNvSpPr txBox="1"/>
          <p:nvPr/>
        </p:nvSpPr>
        <p:spPr>
          <a:xfrm>
            <a:off x="0" y="4897200"/>
            <a:ext cx="627000" cy="2463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lang="en" sz="1000">
                <a:solidFill>
                  <a:schemeClr val="dk1"/>
                </a:solidFill>
                <a:latin typeface="Calibri"/>
                <a:ea typeface="Calibri"/>
                <a:cs typeface="Calibri"/>
                <a:sym typeface="Calibri"/>
              </a:rPr>
              <a:t>Practice</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animEffect filter="fade" transition="in">
                                      <p:cBhvr>
                                        <p:cTn dur="1000"/>
                                        <p:tgtEl>
                                          <p:spTgt spid="1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animEffect filter="fade" transition="in">
                                      <p:cBhvr>
                                        <p:cTn dur="1000"/>
                                        <p:tgtEl>
                                          <p:spTgt spid="1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animEffect filter="fade" transition="in">
                                      <p:cBhvr>
                                        <p:cTn dur="1000"/>
                                        <p:tgtEl>
                                          <p:spTgt spid="1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3" st="3"/>
                                            </p:txEl>
                                          </p:spTgt>
                                        </p:tgtEl>
                                        <p:attrNameLst>
                                          <p:attrName>style.visibility</p:attrName>
                                        </p:attrNameLst>
                                      </p:cBhvr>
                                      <p:to>
                                        <p:strVal val="visible"/>
                                      </p:to>
                                    </p:set>
                                    <p:animEffect filter="fade" transition="in">
                                      <p:cBhvr>
                                        <p:cTn dur="1000"/>
                                        <p:tgtEl>
                                          <p:spTgt spid="1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4" st="4"/>
                                            </p:txEl>
                                          </p:spTgt>
                                        </p:tgtEl>
                                        <p:attrNameLst>
                                          <p:attrName>style.visibility</p:attrName>
                                        </p:attrNameLst>
                                      </p:cBhvr>
                                      <p:to>
                                        <p:strVal val="visible"/>
                                      </p:to>
                                    </p:set>
                                    <p:animEffect filter="fade" transition="in">
                                      <p:cBhvr>
                                        <p:cTn dur="1000"/>
                                        <p:tgtEl>
                                          <p:spTgt spid="1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5" st="5"/>
                                            </p:txEl>
                                          </p:spTgt>
                                        </p:tgtEl>
                                        <p:attrNameLst>
                                          <p:attrName>style.visibility</p:attrName>
                                        </p:attrNameLst>
                                      </p:cBhvr>
                                      <p:to>
                                        <p:strVal val="visible"/>
                                      </p:to>
                                    </p:set>
                                    <p:animEffect filter="fade" transition="in">
                                      <p:cBhvr>
                                        <p:cTn dur="1000"/>
                                        <p:tgtEl>
                                          <p:spTgt spid="1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6" st="6"/>
                                            </p:txEl>
                                          </p:spTgt>
                                        </p:tgtEl>
                                        <p:attrNameLst>
                                          <p:attrName>style.visibility</p:attrName>
                                        </p:attrNameLst>
                                      </p:cBhvr>
                                      <p:to>
                                        <p:strVal val="visible"/>
                                      </p:to>
                                    </p:set>
                                    <p:animEffect filter="fade" transition="in">
                                      <p:cBhvr>
                                        <p:cTn dur="1000"/>
                                        <p:tgtEl>
                                          <p:spTgt spid="14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7" st="7"/>
                                            </p:txEl>
                                          </p:spTgt>
                                        </p:tgtEl>
                                        <p:attrNameLst>
                                          <p:attrName>style.visibility</p:attrName>
                                        </p:attrNameLst>
                                      </p:cBhvr>
                                      <p:to>
                                        <p:strVal val="visible"/>
                                      </p:to>
                                    </p:set>
                                    <p:animEffect filter="fade" transition="in">
                                      <p:cBhvr>
                                        <p:cTn dur="1000"/>
                                        <p:tgtEl>
                                          <p:spTgt spid="14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8" st="8"/>
                                            </p:txEl>
                                          </p:spTgt>
                                        </p:tgtEl>
                                        <p:attrNameLst>
                                          <p:attrName>style.visibility</p:attrName>
                                        </p:attrNameLst>
                                      </p:cBhvr>
                                      <p:to>
                                        <p:strVal val="visible"/>
                                      </p:to>
                                    </p:set>
                                    <p:animEffect filter="fade" transition="in">
                                      <p:cBhvr>
                                        <p:cTn dur="1000"/>
                                        <p:tgtEl>
                                          <p:spTgt spid="14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9" st="9"/>
                                            </p:txEl>
                                          </p:spTgt>
                                        </p:tgtEl>
                                        <p:attrNameLst>
                                          <p:attrName>style.visibility</p:attrName>
                                        </p:attrNameLst>
                                      </p:cBhvr>
                                      <p:to>
                                        <p:strVal val="visible"/>
                                      </p:to>
                                    </p:set>
                                    <p:animEffect filter="fade" transition="in">
                                      <p:cBhvr>
                                        <p:cTn dur="1000"/>
                                        <p:tgtEl>
                                          <p:spTgt spid="14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xEl>
                                              <p:pRg end="0" st="0"/>
                                            </p:txEl>
                                          </p:spTgt>
                                        </p:tgtEl>
                                        <p:attrNameLst>
                                          <p:attrName>style.visibility</p:attrName>
                                        </p:attrNameLst>
                                      </p:cBhvr>
                                      <p:to>
                                        <p:strVal val="visible"/>
                                      </p:to>
                                    </p:set>
                                    <p:animEffect filter="fade" transition="in">
                                      <p:cBhvr>
                                        <p:cTn dur="1000"/>
                                        <p:tgtEl>
                                          <p:spTgt spid="14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xEl>
                                              <p:pRg end="1" st="1"/>
                                            </p:txEl>
                                          </p:spTgt>
                                        </p:tgtEl>
                                        <p:attrNameLst>
                                          <p:attrName>style.visibility</p:attrName>
                                        </p:attrNameLst>
                                      </p:cBhvr>
                                      <p:to>
                                        <p:strVal val="visible"/>
                                      </p:to>
                                    </p:set>
                                    <p:animEffect filter="fade" transition="in">
                                      <p:cBhvr>
                                        <p:cTn dur="1000"/>
                                        <p:tgtEl>
                                          <p:spTgt spid="14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xEl>
                                              <p:pRg end="2" st="2"/>
                                            </p:txEl>
                                          </p:spTgt>
                                        </p:tgtEl>
                                        <p:attrNameLst>
                                          <p:attrName>style.visibility</p:attrName>
                                        </p:attrNameLst>
                                      </p:cBhvr>
                                      <p:to>
                                        <p:strVal val="visible"/>
                                      </p:to>
                                    </p:set>
                                    <p:animEffect filter="fade" transition="in">
                                      <p:cBhvr>
                                        <p:cTn dur="1000"/>
                                        <p:tgtEl>
                                          <p:spTgt spid="14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xEl>
                                              <p:pRg end="3" st="3"/>
                                            </p:txEl>
                                          </p:spTgt>
                                        </p:tgtEl>
                                        <p:attrNameLst>
                                          <p:attrName>style.visibility</p:attrName>
                                        </p:attrNameLst>
                                      </p:cBhvr>
                                      <p:to>
                                        <p:strVal val="visible"/>
                                      </p:to>
                                    </p:set>
                                    <p:animEffect filter="fade" transition="in">
                                      <p:cBhvr>
                                        <p:cTn dur="1000"/>
                                        <p:tgtEl>
                                          <p:spTgt spid="14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xEl>
                                              <p:pRg end="4" st="4"/>
                                            </p:txEl>
                                          </p:spTgt>
                                        </p:tgtEl>
                                        <p:attrNameLst>
                                          <p:attrName>style.visibility</p:attrName>
                                        </p:attrNameLst>
                                      </p:cBhvr>
                                      <p:to>
                                        <p:strVal val="visible"/>
                                      </p:to>
                                    </p:set>
                                    <p:animEffect filter="fade" transition="in">
                                      <p:cBhvr>
                                        <p:cTn dur="1000"/>
                                        <p:tgtEl>
                                          <p:spTgt spid="14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xEl>
                                              <p:pRg end="5" st="5"/>
                                            </p:txEl>
                                          </p:spTgt>
                                        </p:tgtEl>
                                        <p:attrNameLst>
                                          <p:attrName>style.visibility</p:attrName>
                                        </p:attrNameLst>
                                      </p:cBhvr>
                                      <p:to>
                                        <p:strVal val="visible"/>
                                      </p:to>
                                    </p:set>
                                    <p:animEffect filter="fade" transition="in">
                                      <p:cBhvr>
                                        <p:cTn dur="1000"/>
                                        <p:tgtEl>
                                          <p:spTgt spid="14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xEl>
                                              <p:pRg end="6" st="6"/>
                                            </p:txEl>
                                          </p:spTgt>
                                        </p:tgtEl>
                                        <p:attrNameLst>
                                          <p:attrName>style.visibility</p:attrName>
                                        </p:attrNameLst>
                                      </p:cBhvr>
                                      <p:to>
                                        <p:strVal val="visible"/>
                                      </p:to>
                                    </p:set>
                                    <p:animEffect filter="fade" transition="in">
                                      <p:cBhvr>
                                        <p:cTn dur="1000"/>
                                        <p:tgtEl>
                                          <p:spTgt spid="14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xEl>
                                              <p:pRg end="7" st="7"/>
                                            </p:txEl>
                                          </p:spTgt>
                                        </p:tgtEl>
                                        <p:attrNameLst>
                                          <p:attrName>style.visibility</p:attrName>
                                        </p:attrNameLst>
                                      </p:cBhvr>
                                      <p:to>
                                        <p:strVal val="visible"/>
                                      </p:to>
                                    </p:set>
                                    <p:animEffect filter="fade" transition="in">
                                      <p:cBhvr>
                                        <p:cTn dur="1000"/>
                                        <p:tgtEl>
                                          <p:spTgt spid="14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xEl>
                                              <p:pRg end="8" st="8"/>
                                            </p:txEl>
                                          </p:spTgt>
                                        </p:tgtEl>
                                        <p:attrNameLst>
                                          <p:attrName>style.visibility</p:attrName>
                                        </p:attrNameLst>
                                      </p:cBhvr>
                                      <p:to>
                                        <p:strVal val="visible"/>
                                      </p:to>
                                    </p:set>
                                    <p:animEffect filter="fade" transition="in">
                                      <p:cBhvr>
                                        <p:cTn dur="1000"/>
                                        <p:tgtEl>
                                          <p:spTgt spid="14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xEl>
                                              <p:pRg end="9" st="9"/>
                                            </p:txEl>
                                          </p:spTgt>
                                        </p:tgtEl>
                                        <p:attrNameLst>
                                          <p:attrName>style.visibility</p:attrName>
                                        </p:attrNameLst>
                                      </p:cBhvr>
                                      <p:to>
                                        <p:strVal val="visible"/>
                                      </p:to>
                                    </p:set>
                                    <p:animEffect filter="fade" transition="in">
                                      <p:cBhvr>
                                        <p:cTn dur="1000"/>
                                        <p:tgtEl>
                                          <p:spTgt spid="147">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3"/>
          <p:cNvSpPr txBox="1"/>
          <p:nvPr>
            <p:ph type="title"/>
          </p:nvPr>
        </p:nvSpPr>
        <p:spPr>
          <a:xfrm>
            <a:off x="155850" y="222513"/>
            <a:ext cx="4260300" cy="35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Works?</a:t>
            </a:r>
            <a:endParaRPr/>
          </a:p>
        </p:txBody>
      </p:sp>
      <p:sp>
        <p:nvSpPr>
          <p:cNvPr id="154" name="Google Shape;154;p23"/>
          <p:cNvSpPr txBox="1"/>
          <p:nvPr>
            <p:ph idx="1" type="body"/>
          </p:nvPr>
        </p:nvSpPr>
        <p:spPr>
          <a:xfrm>
            <a:off x="311700" y="1266325"/>
            <a:ext cx="8520600" cy="48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275"/>
              <a:buNone/>
            </a:pPr>
            <a:r>
              <a:rPr lang="en" sz="1950">
                <a:latin typeface="Times New Roman"/>
                <a:ea typeface="Times New Roman"/>
                <a:cs typeface="Times New Roman"/>
                <a:sym typeface="Times New Roman"/>
              </a:rPr>
              <a:t>None: SQUAT. 			Small or Medium: SIT 		Large: STAND</a:t>
            </a:r>
            <a:endParaRPr sz="1950">
              <a:latin typeface="Times New Roman"/>
              <a:ea typeface="Times New Roman"/>
              <a:cs typeface="Times New Roman"/>
              <a:sym typeface="Times New Roman"/>
            </a:endParaRPr>
          </a:p>
          <a:p>
            <a:pPr indent="0" lvl="0" marL="0" rtl="0" algn="l">
              <a:spcBef>
                <a:spcPts val="1200"/>
              </a:spcBef>
              <a:spcAft>
                <a:spcPts val="1200"/>
              </a:spcAft>
              <a:buSzPts val="275"/>
              <a:buNone/>
            </a:pPr>
            <a:r>
              <a:t/>
            </a:r>
            <a:endParaRPr sz="1950">
              <a:latin typeface="Times New Roman"/>
              <a:ea typeface="Times New Roman"/>
              <a:cs typeface="Times New Roman"/>
              <a:sym typeface="Times New Roman"/>
            </a:endParaRPr>
          </a:p>
        </p:txBody>
      </p:sp>
      <p:sp>
        <p:nvSpPr>
          <p:cNvPr id="155" name="Google Shape;155;p23"/>
          <p:cNvSpPr txBox="1"/>
          <p:nvPr/>
        </p:nvSpPr>
        <p:spPr>
          <a:xfrm>
            <a:off x="421650" y="1913450"/>
            <a:ext cx="4449600" cy="2979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accent5"/>
                </a:solidFill>
                <a:latin typeface="Open Sans"/>
                <a:ea typeface="Open Sans"/>
                <a:cs typeface="Open Sans"/>
                <a:sym typeface="Open Sans"/>
                <a:hlinkClick r:id="rId3">
                  <a:extLst>
                    <a:ext uri="{A12FA001-AC4F-418D-AE19-62706E023703}">
                      <ahyp:hlinkClr val="tx"/>
                    </a:ext>
                  </a:extLst>
                </a:hlinkClick>
              </a:rPr>
              <a:t>Class size Reduction (CSR)</a:t>
            </a:r>
            <a:r>
              <a:rPr lang="en" sz="1600">
                <a:solidFill>
                  <a:schemeClr val="dk2"/>
                </a:solidFill>
                <a:latin typeface="Open Sans"/>
                <a:ea typeface="Open Sans"/>
                <a:cs typeface="Open Sans"/>
                <a:sym typeface="Open Sans"/>
              </a:rPr>
              <a:t> (NONE*) </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hlink"/>
                </a:solidFill>
                <a:latin typeface="Times New Roman"/>
                <a:ea typeface="Times New Roman"/>
                <a:cs typeface="Times New Roman"/>
                <a:sym typeface="Times New Roman"/>
                <a:hlinkClick r:id="rId4"/>
              </a:rPr>
              <a:t>Highlighting/Underlining</a:t>
            </a:r>
            <a:r>
              <a:rPr lang="en" sz="1600">
                <a:solidFill>
                  <a:schemeClr val="dk2"/>
                </a:solidFill>
                <a:latin typeface="Times New Roman"/>
                <a:ea typeface="Times New Roman"/>
                <a:cs typeface="Times New Roman"/>
                <a:sym typeface="Times New Roman"/>
              </a:rPr>
              <a:t> (NONE)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accent5"/>
                </a:solidFill>
                <a:latin typeface="Open Sans"/>
                <a:ea typeface="Open Sans"/>
                <a:cs typeface="Open Sans"/>
                <a:sym typeface="Open Sans"/>
                <a:hlinkClick r:id="rId5">
                  <a:extLst>
                    <a:ext uri="{A12FA001-AC4F-418D-AE19-62706E023703}">
                      <ahyp:hlinkClr val="tx"/>
                    </a:ext>
                  </a:extLst>
                </a:hlinkClick>
              </a:rPr>
              <a:t>Master’s degree</a:t>
            </a:r>
            <a:r>
              <a:rPr lang="en" sz="1600">
                <a:solidFill>
                  <a:schemeClr val="dk2"/>
                </a:solidFill>
                <a:latin typeface="Open Sans"/>
                <a:ea typeface="Open Sans"/>
                <a:cs typeface="Open Sans"/>
                <a:sym typeface="Open Sans"/>
              </a:rPr>
              <a:t> (NONE)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hlink"/>
                </a:solidFill>
                <a:latin typeface="Times New Roman"/>
                <a:ea typeface="Times New Roman"/>
                <a:cs typeface="Times New Roman"/>
                <a:sym typeface="Times New Roman"/>
                <a:hlinkClick r:id="rId6"/>
              </a:rPr>
              <a:t>Retrieval Practice</a:t>
            </a:r>
            <a:r>
              <a:rPr lang="en" sz="1600">
                <a:solidFill>
                  <a:schemeClr val="dk2"/>
                </a:solidFill>
                <a:latin typeface="Times New Roman"/>
                <a:ea typeface="Times New Roman"/>
                <a:cs typeface="Times New Roman"/>
                <a:sym typeface="Times New Roman"/>
              </a:rPr>
              <a:t> (LARGE)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hlink"/>
                </a:solidFill>
                <a:latin typeface="Times New Roman"/>
                <a:ea typeface="Times New Roman"/>
                <a:cs typeface="Times New Roman"/>
                <a:sym typeface="Times New Roman"/>
                <a:hlinkClick r:id="rId7"/>
              </a:rPr>
              <a:t>Homework (Elementary)</a:t>
            </a:r>
            <a:r>
              <a:rPr lang="en" sz="1600">
                <a:solidFill>
                  <a:schemeClr val="dk2"/>
                </a:solidFill>
                <a:latin typeface="Times New Roman"/>
                <a:ea typeface="Times New Roman"/>
                <a:cs typeface="Times New Roman"/>
                <a:sym typeface="Times New Roman"/>
              </a:rPr>
              <a:t> (NONE)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hlink"/>
                </a:solidFill>
                <a:latin typeface="Times New Roman"/>
                <a:ea typeface="Times New Roman"/>
                <a:cs typeface="Times New Roman"/>
                <a:sym typeface="Times New Roman"/>
                <a:hlinkClick r:id="rId8"/>
              </a:rPr>
              <a:t>Inquiry Learning</a:t>
            </a:r>
            <a:r>
              <a:rPr lang="en" sz="1600">
                <a:solidFill>
                  <a:schemeClr val="dk2"/>
                </a:solidFill>
                <a:latin typeface="Times New Roman"/>
                <a:ea typeface="Times New Roman"/>
                <a:cs typeface="Times New Roman"/>
                <a:sym typeface="Times New Roman"/>
              </a:rPr>
              <a:t> (NONE)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hlink"/>
                </a:solidFill>
                <a:latin typeface="Times New Roman"/>
                <a:ea typeface="Times New Roman"/>
                <a:cs typeface="Times New Roman"/>
                <a:sym typeface="Times New Roman"/>
                <a:hlinkClick r:id="rId9"/>
              </a:rPr>
              <a:t>Think, Pair, Share</a:t>
            </a:r>
            <a:r>
              <a:rPr lang="en" sz="1600">
                <a:solidFill>
                  <a:schemeClr val="dk2"/>
                </a:solidFill>
                <a:latin typeface="Times New Roman"/>
                <a:ea typeface="Times New Roman"/>
                <a:cs typeface="Times New Roman"/>
                <a:sym typeface="Times New Roman"/>
              </a:rPr>
              <a:t> (MED)</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accent5"/>
                </a:solidFill>
                <a:latin typeface="Open Sans"/>
                <a:ea typeface="Open Sans"/>
                <a:cs typeface="Open Sans"/>
                <a:sym typeface="Open Sans"/>
                <a:hlinkClick r:id="rId10">
                  <a:extLst>
                    <a:ext uri="{A12FA001-AC4F-418D-AE19-62706E023703}">
                      <ahyp:hlinkClr val="tx"/>
                    </a:ext>
                  </a:extLst>
                </a:hlinkClick>
              </a:rPr>
              <a:t>Computers and tech</a:t>
            </a:r>
            <a:r>
              <a:rPr lang="en" sz="1600">
                <a:solidFill>
                  <a:schemeClr val="dk2"/>
                </a:solidFill>
                <a:latin typeface="Open Sans"/>
                <a:ea typeface="Open Sans"/>
                <a:cs typeface="Open Sans"/>
                <a:sym typeface="Open Sans"/>
              </a:rPr>
              <a:t> (SMALL)</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accent5"/>
                </a:solidFill>
                <a:latin typeface="Open Sans"/>
                <a:ea typeface="Open Sans"/>
                <a:cs typeface="Open Sans"/>
                <a:sym typeface="Open Sans"/>
                <a:hlinkClick r:id="rId11">
                  <a:extLst>
                    <a:ext uri="{A12FA001-AC4F-418D-AE19-62706E023703}">
                      <ahyp:hlinkClr val="tx"/>
                    </a:ext>
                  </a:extLst>
                </a:hlinkClick>
              </a:rPr>
              <a:t>Universal PreK</a:t>
            </a:r>
            <a:r>
              <a:rPr lang="en" sz="1600">
                <a:solidFill>
                  <a:schemeClr val="dk2"/>
                </a:solidFill>
                <a:latin typeface="Open Sans"/>
                <a:ea typeface="Open Sans"/>
                <a:cs typeface="Open Sans"/>
                <a:sym typeface="Open Sans"/>
              </a:rPr>
              <a:t> (NEGATIVE)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hlink"/>
                </a:solidFill>
                <a:latin typeface="Times New Roman"/>
                <a:ea typeface="Times New Roman"/>
                <a:cs typeface="Times New Roman"/>
                <a:sym typeface="Times New Roman"/>
                <a:hlinkClick r:id="rId12"/>
              </a:rPr>
              <a:t>Formative Feedback </a:t>
            </a:r>
            <a:r>
              <a:rPr lang="en" sz="1600">
                <a:solidFill>
                  <a:schemeClr val="dk2"/>
                </a:solidFill>
                <a:latin typeface="Times New Roman"/>
                <a:ea typeface="Times New Roman"/>
                <a:cs typeface="Times New Roman"/>
                <a:sym typeface="Times New Roman"/>
              </a:rPr>
              <a:t>(LARGE)</a:t>
            </a:r>
            <a:endParaRPr sz="1600">
              <a:solidFill>
                <a:schemeClr val="dk2"/>
              </a:solidFill>
              <a:latin typeface="Times New Roman"/>
              <a:ea typeface="Times New Roman"/>
              <a:cs typeface="Times New Roman"/>
              <a:sym typeface="Times New Roman"/>
            </a:endParaRPr>
          </a:p>
        </p:txBody>
      </p:sp>
      <p:sp>
        <p:nvSpPr>
          <p:cNvPr id="156" name="Google Shape;156;p23"/>
          <p:cNvSpPr txBox="1"/>
          <p:nvPr/>
        </p:nvSpPr>
        <p:spPr>
          <a:xfrm>
            <a:off x="4871175" y="1868625"/>
            <a:ext cx="4139700" cy="9975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accent5"/>
                </a:solidFill>
                <a:latin typeface="Open Sans"/>
                <a:ea typeface="Open Sans"/>
                <a:cs typeface="Open Sans"/>
                <a:sym typeface="Open Sans"/>
                <a:hlinkClick r:id="rId13">
                  <a:extLst>
                    <a:ext uri="{A12FA001-AC4F-418D-AE19-62706E023703}">
                      <ahyp:hlinkClr val="tx"/>
                    </a:ext>
                  </a:extLst>
                </a:hlinkClick>
              </a:rPr>
              <a:t>More</a:t>
            </a:r>
            <a:r>
              <a:rPr lang="en" sz="1600">
                <a:solidFill>
                  <a:schemeClr val="dk2"/>
                </a:solidFill>
                <a:latin typeface="Open Sans"/>
                <a:ea typeface="Open Sans"/>
                <a:cs typeface="Open Sans"/>
                <a:sym typeface="Open Sans"/>
              </a:rPr>
              <a:t>, </a:t>
            </a:r>
            <a:r>
              <a:rPr lang="en" sz="1600" u="sng">
                <a:solidFill>
                  <a:schemeClr val="accent5"/>
                </a:solidFill>
                <a:latin typeface="Open Sans"/>
                <a:ea typeface="Open Sans"/>
                <a:cs typeface="Open Sans"/>
                <a:sym typeface="Open Sans"/>
                <a:hlinkClick r:id="rId14">
                  <a:extLst>
                    <a:ext uri="{A12FA001-AC4F-418D-AE19-62706E023703}">
                      <ahyp:hlinkClr val="tx"/>
                    </a:ext>
                  </a:extLst>
                </a:hlinkClick>
              </a:rPr>
              <a:t>more</a:t>
            </a:r>
            <a:r>
              <a:rPr lang="en" sz="1600">
                <a:solidFill>
                  <a:schemeClr val="dk2"/>
                </a:solidFill>
                <a:latin typeface="Open Sans"/>
                <a:ea typeface="Open Sans"/>
                <a:cs typeface="Open Sans"/>
                <a:sym typeface="Open Sans"/>
              </a:rPr>
              <a:t>, </a:t>
            </a:r>
            <a:r>
              <a:rPr lang="en" sz="1600" u="sng">
                <a:solidFill>
                  <a:schemeClr val="accent5"/>
                </a:solidFill>
                <a:latin typeface="Open Sans"/>
                <a:ea typeface="Open Sans"/>
                <a:cs typeface="Open Sans"/>
                <a:sym typeface="Open Sans"/>
                <a:hlinkClick r:id="rId15">
                  <a:extLst>
                    <a:ext uri="{A12FA001-AC4F-418D-AE19-62706E023703}">
                      <ahyp:hlinkClr val="tx"/>
                    </a:ext>
                  </a:extLst>
                </a:hlinkClick>
              </a:rPr>
              <a:t>more</a:t>
            </a:r>
            <a:r>
              <a:rPr lang="en" sz="1600">
                <a:solidFill>
                  <a:schemeClr val="dk2"/>
                </a:solidFill>
                <a:latin typeface="Open Sans"/>
                <a:ea typeface="Open Sans"/>
                <a:cs typeface="Open Sans"/>
                <a:sym typeface="Open Sans"/>
              </a:rPr>
              <a:t>, </a:t>
            </a:r>
            <a:r>
              <a:rPr lang="en" sz="1600" u="sng">
                <a:solidFill>
                  <a:schemeClr val="accent5"/>
                </a:solidFill>
                <a:latin typeface="Open Sans"/>
                <a:ea typeface="Open Sans"/>
                <a:cs typeface="Open Sans"/>
                <a:sym typeface="Open Sans"/>
                <a:hlinkClick r:id="rId16">
                  <a:extLst>
                    <a:ext uri="{A12FA001-AC4F-418D-AE19-62706E023703}">
                      <ahyp:hlinkClr val="tx"/>
                    </a:ext>
                  </a:extLst>
                </a:hlinkClick>
              </a:rPr>
              <a:t>more</a:t>
            </a:r>
            <a:br>
              <a:rPr lang="en" sz="1600">
                <a:solidFill>
                  <a:schemeClr val="dk2"/>
                </a:solidFill>
                <a:latin typeface="Times New Roman"/>
                <a:ea typeface="Times New Roman"/>
                <a:cs typeface="Times New Roman"/>
                <a:sym typeface="Times New Roman"/>
              </a:rPr>
            </a:b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accent5"/>
                </a:solidFill>
                <a:hlinkClick r:id="rId17">
                  <a:extLst>
                    <a:ext uri="{A12FA001-AC4F-418D-AE19-62706E023703}">
                      <ahyp:hlinkClr val="tx"/>
                    </a:ext>
                  </a:extLst>
                </a:hlinkClick>
              </a:rPr>
              <a:t>More</a:t>
            </a:r>
            <a:r>
              <a:rPr lang="en" sz="1600">
                <a:solidFill>
                  <a:schemeClr val="dk1"/>
                </a:solidFill>
              </a:rPr>
              <a:t>, </a:t>
            </a:r>
            <a:r>
              <a:rPr lang="en" sz="1600" u="sng">
                <a:solidFill>
                  <a:schemeClr val="accent5"/>
                </a:solidFill>
                <a:hlinkClick r:id="rId18">
                  <a:extLst>
                    <a:ext uri="{A12FA001-AC4F-418D-AE19-62706E023703}">
                      <ahyp:hlinkClr val="tx"/>
                    </a:ext>
                  </a:extLst>
                </a:hlinkClick>
              </a:rPr>
              <a:t>more</a:t>
            </a:r>
            <a:endParaRPr sz="1600">
              <a:solidFill>
                <a:schemeClr val="dk2"/>
              </a:solidFill>
              <a:latin typeface="Times New Roman"/>
              <a:ea typeface="Times New Roman"/>
              <a:cs typeface="Times New Roman"/>
              <a:sym typeface="Times New Roman"/>
            </a:endParaRPr>
          </a:p>
        </p:txBody>
      </p:sp>
      <p:sp>
        <p:nvSpPr>
          <p:cNvPr id="157" name="Google Shape;157;p23"/>
          <p:cNvSpPr txBox="1"/>
          <p:nvPr/>
        </p:nvSpPr>
        <p:spPr>
          <a:xfrm>
            <a:off x="0" y="4897200"/>
            <a:ext cx="627000" cy="2463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lang="en" sz="1000">
                <a:solidFill>
                  <a:schemeClr val="dk1"/>
                </a:solidFill>
                <a:latin typeface="Calibri"/>
                <a:ea typeface="Calibri"/>
                <a:cs typeface="Calibri"/>
                <a:sym typeface="Calibri"/>
              </a:rPr>
              <a:t>Practice</a:t>
            </a:r>
            <a:endParaRPr sz="1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0" st="0"/>
                                            </p:txEl>
                                          </p:spTgt>
                                        </p:tgtEl>
                                        <p:attrNameLst>
                                          <p:attrName>style.visibility</p:attrName>
                                        </p:attrNameLst>
                                      </p:cBhvr>
                                      <p:to>
                                        <p:strVal val="visible"/>
                                      </p:to>
                                    </p:set>
                                    <p:animEffect filter="fade" transition="in">
                                      <p:cBhvr>
                                        <p:cTn dur="1000"/>
                                        <p:tgtEl>
                                          <p:spTgt spid="15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1" st="1"/>
                                            </p:txEl>
                                          </p:spTgt>
                                        </p:tgtEl>
                                        <p:attrNameLst>
                                          <p:attrName>style.visibility</p:attrName>
                                        </p:attrNameLst>
                                      </p:cBhvr>
                                      <p:to>
                                        <p:strVal val="visible"/>
                                      </p:to>
                                    </p:set>
                                    <p:animEffect filter="fade" transition="in">
                                      <p:cBhvr>
                                        <p:cTn dur="1000"/>
                                        <p:tgtEl>
                                          <p:spTgt spid="15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2" st="2"/>
                                            </p:txEl>
                                          </p:spTgt>
                                        </p:tgtEl>
                                        <p:attrNameLst>
                                          <p:attrName>style.visibility</p:attrName>
                                        </p:attrNameLst>
                                      </p:cBhvr>
                                      <p:to>
                                        <p:strVal val="visible"/>
                                      </p:to>
                                    </p:set>
                                    <p:animEffect filter="fade" transition="in">
                                      <p:cBhvr>
                                        <p:cTn dur="1000"/>
                                        <p:tgtEl>
                                          <p:spTgt spid="15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3" st="3"/>
                                            </p:txEl>
                                          </p:spTgt>
                                        </p:tgtEl>
                                        <p:attrNameLst>
                                          <p:attrName>style.visibility</p:attrName>
                                        </p:attrNameLst>
                                      </p:cBhvr>
                                      <p:to>
                                        <p:strVal val="visible"/>
                                      </p:to>
                                    </p:set>
                                    <p:animEffect filter="fade" transition="in">
                                      <p:cBhvr>
                                        <p:cTn dur="1000"/>
                                        <p:tgtEl>
                                          <p:spTgt spid="15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4" st="4"/>
                                            </p:txEl>
                                          </p:spTgt>
                                        </p:tgtEl>
                                        <p:attrNameLst>
                                          <p:attrName>style.visibility</p:attrName>
                                        </p:attrNameLst>
                                      </p:cBhvr>
                                      <p:to>
                                        <p:strVal val="visible"/>
                                      </p:to>
                                    </p:set>
                                    <p:animEffect filter="fade" transition="in">
                                      <p:cBhvr>
                                        <p:cTn dur="1000"/>
                                        <p:tgtEl>
                                          <p:spTgt spid="15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5" st="5"/>
                                            </p:txEl>
                                          </p:spTgt>
                                        </p:tgtEl>
                                        <p:attrNameLst>
                                          <p:attrName>style.visibility</p:attrName>
                                        </p:attrNameLst>
                                      </p:cBhvr>
                                      <p:to>
                                        <p:strVal val="visible"/>
                                      </p:to>
                                    </p:set>
                                    <p:animEffect filter="fade" transition="in">
                                      <p:cBhvr>
                                        <p:cTn dur="1000"/>
                                        <p:tgtEl>
                                          <p:spTgt spid="15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6" st="6"/>
                                            </p:txEl>
                                          </p:spTgt>
                                        </p:tgtEl>
                                        <p:attrNameLst>
                                          <p:attrName>style.visibility</p:attrName>
                                        </p:attrNameLst>
                                      </p:cBhvr>
                                      <p:to>
                                        <p:strVal val="visible"/>
                                      </p:to>
                                    </p:set>
                                    <p:animEffect filter="fade" transition="in">
                                      <p:cBhvr>
                                        <p:cTn dur="1000"/>
                                        <p:tgtEl>
                                          <p:spTgt spid="15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7" st="7"/>
                                            </p:txEl>
                                          </p:spTgt>
                                        </p:tgtEl>
                                        <p:attrNameLst>
                                          <p:attrName>style.visibility</p:attrName>
                                        </p:attrNameLst>
                                      </p:cBhvr>
                                      <p:to>
                                        <p:strVal val="visible"/>
                                      </p:to>
                                    </p:set>
                                    <p:animEffect filter="fade" transition="in">
                                      <p:cBhvr>
                                        <p:cTn dur="1000"/>
                                        <p:tgtEl>
                                          <p:spTgt spid="15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8" st="8"/>
                                            </p:txEl>
                                          </p:spTgt>
                                        </p:tgtEl>
                                        <p:attrNameLst>
                                          <p:attrName>style.visibility</p:attrName>
                                        </p:attrNameLst>
                                      </p:cBhvr>
                                      <p:to>
                                        <p:strVal val="visible"/>
                                      </p:to>
                                    </p:set>
                                    <p:animEffect filter="fade" transition="in">
                                      <p:cBhvr>
                                        <p:cTn dur="1000"/>
                                        <p:tgtEl>
                                          <p:spTgt spid="15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xEl>
                                              <p:pRg end="9" st="9"/>
                                            </p:txEl>
                                          </p:spTgt>
                                        </p:tgtEl>
                                        <p:attrNameLst>
                                          <p:attrName>style.visibility</p:attrName>
                                        </p:attrNameLst>
                                      </p:cBhvr>
                                      <p:to>
                                        <p:strVal val="visible"/>
                                      </p:to>
                                    </p:set>
                                    <p:animEffect filter="fade" transition="in">
                                      <p:cBhvr>
                                        <p:cTn dur="1000"/>
                                        <p:tgtEl>
                                          <p:spTgt spid="15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0" st="0"/>
                                            </p:txEl>
                                          </p:spTgt>
                                        </p:tgtEl>
                                        <p:attrNameLst>
                                          <p:attrName>style.visibility</p:attrName>
                                        </p:attrNameLst>
                                      </p:cBhvr>
                                      <p:to>
                                        <p:strVal val="visible"/>
                                      </p:to>
                                    </p:set>
                                    <p:animEffect filter="fade" transition="in">
                                      <p:cBhvr>
                                        <p:cTn dur="1000"/>
                                        <p:tgtEl>
                                          <p:spTgt spid="1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6">
                                            <p:txEl>
                                              <p:pRg end="1" st="1"/>
                                            </p:txEl>
                                          </p:spTgt>
                                        </p:tgtEl>
                                        <p:attrNameLst>
                                          <p:attrName>style.visibility</p:attrName>
                                        </p:attrNameLst>
                                      </p:cBhvr>
                                      <p:to>
                                        <p:strVal val="visible"/>
                                      </p:to>
                                    </p:set>
                                    <p:animEffect filter="fade" transition="in">
                                      <p:cBhvr>
                                        <p:cTn dur="1000"/>
                                        <p:tgtEl>
                                          <p:spTgt spid="156">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155850" y="222513"/>
            <a:ext cx="4260300" cy="353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Works?</a:t>
            </a:r>
            <a:endParaRPr/>
          </a:p>
        </p:txBody>
      </p:sp>
      <p:sp>
        <p:nvSpPr>
          <p:cNvPr id="163" name="Google Shape;163;p24"/>
          <p:cNvSpPr txBox="1"/>
          <p:nvPr>
            <p:ph idx="1" type="body"/>
          </p:nvPr>
        </p:nvSpPr>
        <p:spPr>
          <a:xfrm>
            <a:off x="311700" y="1266325"/>
            <a:ext cx="8520600" cy="48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275"/>
              <a:buNone/>
            </a:pPr>
            <a:r>
              <a:rPr lang="en" sz="1950">
                <a:latin typeface="Times New Roman"/>
                <a:ea typeface="Times New Roman"/>
                <a:cs typeface="Times New Roman"/>
                <a:sym typeface="Times New Roman"/>
              </a:rPr>
              <a:t>None: SQUAT. 			Small or Medium: SIT 		Large: STAND</a:t>
            </a:r>
            <a:endParaRPr sz="1950">
              <a:latin typeface="Times New Roman"/>
              <a:ea typeface="Times New Roman"/>
              <a:cs typeface="Times New Roman"/>
              <a:sym typeface="Times New Roman"/>
            </a:endParaRPr>
          </a:p>
          <a:p>
            <a:pPr indent="0" lvl="0" marL="0" rtl="0" algn="l">
              <a:spcBef>
                <a:spcPts val="1200"/>
              </a:spcBef>
              <a:spcAft>
                <a:spcPts val="1200"/>
              </a:spcAft>
              <a:buSzPts val="275"/>
              <a:buNone/>
            </a:pPr>
            <a:r>
              <a:t/>
            </a:r>
            <a:endParaRPr sz="1950">
              <a:latin typeface="Times New Roman"/>
              <a:ea typeface="Times New Roman"/>
              <a:cs typeface="Times New Roman"/>
              <a:sym typeface="Times New Roman"/>
            </a:endParaRPr>
          </a:p>
        </p:txBody>
      </p:sp>
      <p:sp>
        <p:nvSpPr>
          <p:cNvPr id="164" name="Google Shape;164;p24"/>
          <p:cNvSpPr txBox="1"/>
          <p:nvPr/>
        </p:nvSpPr>
        <p:spPr>
          <a:xfrm>
            <a:off x="421650" y="1913450"/>
            <a:ext cx="44496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t/>
            </a:r>
            <a:endParaRPr sz="1600">
              <a:solidFill>
                <a:schemeClr val="dk2"/>
              </a:solidFill>
              <a:latin typeface="Times New Roman"/>
              <a:ea typeface="Times New Roman"/>
              <a:cs typeface="Times New Roman"/>
              <a:sym typeface="Times New Roman"/>
            </a:endParaRPr>
          </a:p>
        </p:txBody>
      </p:sp>
      <p:sp>
        <p:nvSpPr>
          <p:cNvPr id="165" name="Google Shape;165;p24"/>
          <p:cNvSpPr txBox="1"/>
          <p:nvPr/>
        </p:nvSpPr>
        <p:spPr>
          <a:xfrm>
            <a:off x="311700" y="1836013"/>
            <a:ext cx="4139700" cy="29799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3">
                  <a:extLst>
                    <a:ext uri="{A12FA001-AC4F-418D-AE19-62706E023703}">
                      <ahyp:hlinkClr val="tx"/>
                    </a:ext>
                  </a:extLst>
                </a:hlinkClick>
              </a:rPr>
              <a:t>School funding</a:t>
            </a:r>
            <a:r>
              <a:rPr lang="en" sz="1600">
                <a:solidFill>
                  <a:schemeClr val="dk2"/>
                </a:solidFill>
                <a:latin typeface="Open Sans"/>
                <a:ea typeface="Open Sans"/>
                <a:cs typeface="Open Sans"/>
                <a:sym typeface="Open Sans"/>
              </a:rPr>
              <a:t>*** (NONE) </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accent5"/>
                </a:solidFill>
                <a:latin typeface="Open Sans"/>
                <a:ea typeface="Open Sans"/>
                <a:cs typeface="Open Sans"/>
                <a:sym typeface="Open Sans"/>
                <a:hlinkClick r:id="rId4">
                  <a:extLst>
                    <a:ext uri="{A12FA001-AC4F-418D-AE19-62706E023703}">
                      <ahyp:hlinkClr val="tx"/>
                    </a:ext>
                  </a:extLst>
                </a:hlinkClick>
              </a:rPr>
              <a:t>Teacher effectiveness</a:t>
            </a:r>
            <a:r>
              <a:rPr lang="en" sz="1600">
                <a:solidFill>
                  <a:schemeClr val="dk2"/>
                </a:solidFill>
                <a:latin typeface="Open Sans"/>
                <a:ea typeface="Open Sans"/>
                <a:cs typeface="Open Sans"/>
                <a:sym typeface="Open Sans"/>
              </a:rPr>
              <a:t> (LARGE)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Open Sans"/>
              <a:buChar char="●"/>
            </a:pPr>
            <a:r>
              <a:rPr lang="en" sz="1600" u="sng">
                <a:solidFill>
                  <a:schemeClr val="accent5"/>
                </a:solidFill>
                <a:latin typeface="Open Sans"/>
                <a:ea typeface="Open Sans"/>
                <a:cs typeface="Open Sans"/>
                <a:sym typeface="Open Sans"/>
                <a:hlinkClick r:id="rId5">
                  <a:extLst>
                    <a:ext uri="{A12FA001-AC4F-418D-AE19-62706E023703}">
                      <ahyp:hlinkClr val="tx"/>
                    </a:ext>
                  </a:extLst>
                </a:hlinkClick>
              </a:rPr>
              <a:t>Professional development</a:t>
            </a:r>
            <a:r>
              <a:rPr lang="en" sz="1600">
                <a:solidFill>
                  <a:schemeClr val="dk2"/>
                </a:solidFill>
                <a:latin typeface="Open Sans"/>
                <a:ea typeface="Open Sans"/>
                <a:cs typeface="Open Sans"/>
                <a:sym typeface="Open Sans"/>
              </a:rPr>
              <a:t> (NONE)</a:t>
            </a:r>
            <a:endParaRPr sz="1600">
              <a:solidFill>
                <a:schemeClr val="dk2"/>
              </a:solidFill>
              <a:latin typeface="Open Sans"/>
              <a:ea typeface="Open Sans"/>
              <a:cs typeface="Open Sans"/>
              <a:sym typeface="Open Sans"/>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accent5"/>
                </a:solidFill>
                <a:latin typeface="Open Sans"/>
                <a:ea typeface="Open Sans"/>
                <a:cs typeface="Open Sans"/>
                <a:sym typeface="Open Sans"/>
                <a:hlinkClick r:id="rId6">
                  <a:extLst>
                    <a:ext uri="{A12FA001-AC4F-418D-AE19-62706E023703}">
                      <ahyp:hlinkClr val="tx"/>
                    </a:ext>
                  </a:extLst>
                </a:hlinkClick>
              </a:rPr>
              <a:t>Teacher Pay</a:t>
            </a:r>
            <a:r>
              <a:rPr lang="en" sz="1600">
                <a:solidFill>
                  <a:schemeClr val="dk2"/>
                </a:solidFill>
                <a:latin typeface="Open Sans"/>
                <a:ea typeface="Open Sans"/>
                <a:cs typeface="Open Sans"/>
                <a:sym typeface="Open Sans"/>
              </a:rPr>
              <a:t>*** (NONE)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hlink"/>
                </a:solidFill>
                <a:latin typeface="Times New Roman"/>
                <a:ea typeface="Times New Roman"/>
                <a:cs typeface="Times New Roman"/>
                <a:sym typeface="Times New Roman"/>
                <a:hlinkClick r:id="rId7"/>
              </a:rPr>
              <a:t>Massed Practice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a:solidFill>
                  <a:schemeClr val="dk2"/>
                </a:solidFill>
                <a:latin typeface="Times New Roman"/>
                <a:ea typeface="Times New Roman"/>
                <a:cs typeface="Times New Roman"/>
                <a:sym typeface="Times New Roman"/>
              </a:rPr>
              <a:t>Round Robin Reading</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accent5"/>
                </a:solidFill>
                <a:latin typeface="Open Sans"/>
                <a:ea typeface="Open Sans"/>
                <a:cs typeface="Open Sans"/>
                <a:sym typeface="Open Sans"/>
                <a:hlinkClick r:id="rId8">
                  <a:extLst>
                    <a:ext uri="{A12FA001-AC4F-418D-AE19-62706E023703}">
                      <ahyp:hlinkClr val="tx"/>
                    </a:ext>
                  </a:extLst>
                </a:hlinkClick>
              </a:rPr>
              <a:t>Credentialing </a:t>
            </a:r>
            <a:r>
              <a:rPr lang="en" sz="1600">
                <a:solidFill>
                  <a:schemeClr val="dk2"/>
                </a:solidFill>
                <a:latin typeface="Open Sans"/>
                <a:ea typeface="Open Sans"/>
                <a:cs typeface="Open Sans"/>
                <a:sym typeface="Open Sans"/>
              </a:rPr>
              <a:t>(NONE)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hlink"/>
                </a:solidFill>
                <a:latin typeface="Times New Roman"/>
                <a:ea typeface="Times New Roman"/>
                <a:cs typeface="Times New Roman"/>
                <a:sym typeface="Times New Roman"/>
                <a:hlinkClick r:id="rId9"/>
              </a:rPr>
              <a:t>Interleaved Practice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accent5"/>
                </a:solidFill>
                <a:latin typeface="Open Sans"/>
                <a:ea typeface="Open Sans"/>
                <a:cs typeface="Open Sans"/>
                <a:sym typeface="Open Sans"/>
                <a:hlinkClick r:id="rId10">
                  <a:extLst>
                    <a:ext uri="{A12FA001-AC4F-418D-AE19-62706E023703}">
                      <ahyp:hlinkClr val="tx"/>
                    </a:ext>
                  </a:extLst>
                </a:hlinkClick>
              </a:rPr>
              <a:t>Matching learning styles</a:t>
            </a:r>
            <a:r>
              <a:rPr lang="en" sz="1600">
                <a:solidFill>
                  <a:schemeClr val="dk2"/>
                </a:solidFill>
                <a:latin typeface="Open Sans"/>
                <a:ea typeface="Open Sans"/>
                <a:cs typeface="Open Sans"/>
                <a:sym typeface="Open Sans"/>
              </a:rPr>
              <a:t> (NONE)</a:t>
            </a:r>
            <a:endParaRPr sz="1600">
              <a:solidFill>
                <a:schemeClr val="dk2"/>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chemeClr val="dk2"/>
              </a:buClr>
              <a:buSzPts val="1600"/>
              <a:buFont typeface="Times New Roman"/>
              <a:buChar char="●"/>
            </a:pPr>
            <a:r>
              <a:rPr lang="en" sz="1600" u="sng">
                <a:solidFill>
                  <a:schemeClr val="hlink"/>
                </a:solidFill>
                <a:latin typeface="Times New Roman"/>
                <a:ea typeface="Times New Roman"/>
                <a:cs typeface="Times New Roman"/>
                <a:sym typeface="Times New Roman"/>
                <a:hlinkClick r:id="rId11"/>
              </a:rPr>
              <a:t>Graphic Organizers/Picture Synthesis</a:t>
            </a:r>
            <a:endParaRPr sz="1600">
              <a:solidFill>
                <a:schemeClr val="dk2"/>
              </a:solidFill>
              <a:latin typeface="Times New Roman"/>
              <a:ea typeface="Times New Roman"/>
              <a:cs typeface="Times New Roman"/>
              <a:sym typeface="Times New Roman"/>
            </a:endParaRPr>
          </a:p>
        </p:txBody>
      </p:sp>
      <p:sp>
        <p:nvSpPr>
          <p:cNvPr id="166" name="Google Shape;166;p24"/>
          <p:cNvSpPr txBox="1"/>
          <p:nvPr/>
        </p:nvSpPr>
        <p:spPr>
          <a:xfrm>
            <a:off x="0" y="4897200"/>
            <a:ext cx="627000" cy="246300"/>
          </a:xfrm>
          <a:prstGeom prst="rect">
            <a:avLst/>
          </a:prstGeom>
          <a:noFill/>
          <a:ln>
            <a:noFill/>
          </a:ln>
        </p:spPr>
        <p:txBody>
          <a:bodyPr anchorCtr="0" anchor="t" bIns="45725" lIns="45725" spcFirstLastPara="1" rIns="45725" wrap="square" tIns="45725">
            <a:spAutoFit/>
          </a:bodyPr>
          <a:lstStyle/>
          <a:p>
            <a:pPr indent="0" lvl="0" marL="0" rtl="0" algn="ctr">
              <a:spcBef>
                <a:spcPts val="0"/>
              </a:spcBef>
              <a:spcAft>
                <a:spcPts val="0"/>
              </a:spcAft>
              <a:buNone/>
            </a:pPr>
            <a:r>
              <a:rPr lang="en" sz="1000">
                <a:solidFill>
                  <a:schemeClr val="dk1"/>
                </a:solidFill>
                <a:latin typeface="Calibri"/>
                <a:ea typeface="Calibri"/>
                <a:cs typeface="Calibri"/>
                <a:sym typeface="Calibri"/>
              </a:rPr>
              <a:t>Practice</a:t>
            </a:r>
            <a:endParaRPr sz="1000"/>
          </a:p>
        </p:txBody>
      </p:sp>
      <p:sp>
        <p:nvSpPr>
          <p:cNvPr id="167" name="Google Shape;167;p24"/>
          <p:cNvSpPr txBox="1"/>
          <p:nvPr/>
        </p:nvSpPr>
        <p:spPr>
          <a:xfrm>
            <a:off x="4590250" y="1843450"/>
            <a:ext cx="4260300" cy="2949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2"/>
              </a:buClr>
              <a:buSzPts val="1400"/>
              <a:buFont typeface="Open Sans"/>
              <a:buChar char="●"/>
            </a:pPr>
            <a:r>
              <a:rPr lang="en" u="sng">
                <a:solidFill>
                  <a:schemeClr val="accent5"/>
                </a:solidFill>
                <a:latin typeface="Open Sans"/>
                <a:ea typeface="Open Sans"/>
                <a:cs typeface="Open Sans"/>
                <a:sym typeface="Open Sans"/>
                <a:hlinkClick r:id="rId12">
                  <a:extLst>
                    <a:ext uri="{A12FA001-AC4F-418D-AE19-62706E023703}">
                      <ahyp:hlinkClr val="tx"/>
                    </a:ext>
                  </a:extLst>
                </a:hlinkClick>
              </a:rPr>
              <a:t>More</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13">
                  <a:extLst>
                    <a:ext uri="{A12FA001-AC4F-418D-AE19-62706E023703}">
                      <ahyp:hlinkClr val="tx"/>
                    </a:ext>
                  </a:extLst>
                </a:hlinkClick>
              </a:rPr>
              <a:t>more</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14">
                  <a:extLst>
                    <a:ext uri="{A12FA001-AC4F-418D-AE19-62706E023703}">
                      <ahyp:hlinkClr val="tx"/>
                    </a:ext>
                  </a:extLst>
                </a:hlinkClick>
              </a:rPr>
              <a:t>more</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15">
                  <a:extLst>
                    <a:ext uri="{A12FA001-AC4F-418D-AE19-62706E023703}">
                      <ahyp:hlinkClr val="tx"/>
                    </a:ext>
                  </a:extLst>
                </a:hlinkClick>
              </a:rPr>
              <a:t>more</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Robust</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u="sng">
                <a:solidFill>
                  <a:schemeClr val="accent5"/>
                </a:solidFill>
                <a:latin typeface="Open Sans"/>
                <a:ea typeface="Open Sans"/>
                <a:cs typeface="Open Sans"/>
                <a:sym typeface="Open Sans"/>
                <a:hlinkClick r:id="rId16">
                  <a:extLst>
                    <a:ext uri="{A12FA001-AC4F-418D-AE19-62706E023703}">
                      <ahyp:hlinkClr val="tx"/>
                    </a:ext>
                  </a:extLst>
                </a:hlinkClick>
              </a:rPr>
              <a:t>More</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17">
                  <a:extLst>
                    <a:ext uri="{A12FA001-AC4F-418D-AE19-62706E023703}">
                      <ahyp:hlinkClr val="tx"/>
                    </a:ext>
                  </a:extLst>
                </a:hlinkClick>
              </a:rPr>
              <a:t>more</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18">
                  <a:extLst>
                    <a:ext uri="{A12FA001-AC4F-418D-AE19-62706E023703}">
                      <ahyp:hlinkClr val="tx"/>
                    </a:ext>
                  </a:extLst>
                </a:hlinkClick>
              </a:rPr>
              <a:t>more</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19">
                  <a:extLst>
                    <a:ext uri="{A12FA001-AC4F-418D-AE19-62706E023703}">
                      <ahyp:hlinkClr val="tx"/>
                    </a:ext>
                  </a:extLst>
                </a:hlinkClick>
              </a:rPr>
              <a:t>more</a:t>
            </a:r>
            <a:r>
              <a:rPr lang="en">
                <a:solidFill>
                  <a:schemeClr val="dk1"/>
                </a:solidFill>
              </a:rPr>
              <a:t>, </a:t>
            </a:r>
            <a:r>
              <a:rPr lang="en" u="sng">
                <a:solidFill>
                  <a:schemeClr val="accent5"/>
                </a:solidFill>
                <a:hlinkClick r:id="rId20">
                  <a:extLst>
                    <a:ext uri="{A12FA001-AC4F-418D-AE19-62706E023703}">
                      <ahyp:hlinkClr val="tx"/>
                    </a:ext>
                  </a:extLst>
                </a:hlinkClick>
              </a:rPr>
              <a:t>more</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u="sng">
                <a:solidFill>
                  <a:schemeClr val="accent5"/>
                </a:solidFill>
                <a:latin typeface="Open Sans"/>
                <a:ea typeface="Open Sans"/>
                <a:cs typeface="Open Sans"/>
                <a:sym typeface="Open Sans"/>
                <a:hlinkClick r:id="rId21">
                  <a:extLst>
                    <a:ext uri="{A12FA001-AC4F-418D-AE19-62706E023703}">
                      <ahyp:hlinkClr val="tx"/>
                    </a:ext>
                  </a:extLst>
                </a:hlinkClick>
              </a:rPr>
              <a:t>More</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22">
                  <a:extLst>
                    <a:ext uri="{A12FA001-AC4F-418D-AE19-62706E023703}">
                      <ahyp:hlinkClr val="tx"/>
                    </a:ext>
                  </a:extLst>
                </a:hlinkClick>
              </a:rPr>
              <a:t>more</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23">
                  <a:extLst>
                    <a:ext uri="{A12FA001-AC4F-418D-AE19-62706E023703}">
                      <ahyp:hlinkClr val="tx"/>
                    </a:ext>
                  </a:extLst>
                </a:hlinkClick>
              </a:rPr>
              <a:t>more</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24">
                  <a:extLst>
                    <a:ext uri="{A12FA001-AC4F-418D-AE19-62706E023703}">
                      <ahyp:hlinkClr val="tx"/>
                    </a:ext>
                  </a:extLst>
                </a:hlinkClick>
              </a:rPr>
              <a:t>more</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25">
                  <a:extLst>
                    <a:ext uri="{A12FA001-AC4F-418D-AE19-62706E023703}">
                      <ahyp:hlinkClr val="tx"/>
                    </a:ext>
                  </a:extLst>
                </a:hlinkClick>
              </a:rPr>
              <a:t>m</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26">
                  <a:extLst>
                    <a:ext uri="{A12FA001-AC4F-418D-AE19-62706E023703}">
                      <ahyp:hlinkClr val="tx"/>
                    </a:ext>
                  </a:extLst>
                </a:hlinkClick>
              </a:rPr>
              <a:t>m</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27">
                  <a:extLst>
                    <a:ext uri="{A12FA001-AC4F-418D-AE19-62706E023703}">
                      <ahyp:hlinkClr val="tx"/>
                    </a:ext>
                  </a:extLst>
                </a:hlinkClick>
              </a:rPr>
              <a:t>m</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28">
                  <a:extLst>
                    <a:ext uri="{A12FA001-AC4F-418D-AE19-62706E023703}">
                      <ahyp:hlinkClr val="tx"/>
                    </a:ext>
                  </a:extLst>
                </a:hlinkClick>
              </a:rPr>
              <a:t>m</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See also: Dan Willingham</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Robust</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Robust</a:t>
            </a:r>
            <a:endParaRPr>
              <a:solidFill>
                <a:schemeClr val="dk2"/>
              </a:solidFill>
            </a:endParaRPr>
          </a:p>
          <a:p>
            <a:pPr indent="-317500" lvl="0" marL="457200" rtl="0" algn="l">
              <a:lnSpc>
                <a:spcPct val="115000"/>
              </a:lnSpc>
              <a:spcBef>
                <a:spcPts val="0"/>
              </a:spcBef>
              <a:spcAft>
                <a:spcPts val="0"/>
              </a:spcAft>
              <a:buClr>
                <a:schemeClr val="dk2"/>
              </a:buClr>
              <a:buSzPts val="1400"/>
              <a:buFont typeface="Open Sans"/>
              <a:buChar char="●"/>
            </a:pPr>
            <a:r>
              <a:rPr lang="en" u="sng">
                <a:solidFill>
                  <a:schemeClr val="accent5"/>
                </a:solidFill>
                <a:latin typeface="Open Sans"/>
                <a:ea typeface="Open Sans"/>
                <a:cs typeface="Open Sans"/>
                <a:sym typeface="Open Sans"/>
                <a:hlinkClick r:id="rId29">
                  <a:extLst>
                    <a:ext uri="{A12FA001-AC4F-418D-AE19-62706E023703}">
                      <ahyp:hlinkClr val="tx"/>
                    </a:ext>
                  </a:extLst>
                </a:hlinkClick>
              </a:rPr>
              <a:t>More</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30">
                  <a:extLst>
                    <a:ext uri="{A12FA001-AC4F-418D-AE19-62706E023703}">
                      <ahyp:hlinkClr val="tx"/>
                    </a:ext>
                  </a:extLst>
                </a:hlinkClick>
              </a:rPr>
              <a:t>more</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31">
                  <a:extLst>
                    <a:ext uri="{A12FA001-AC4F-418D-AE19-62706E023703}">
                      <ahyp:hlinkClr val="tx"/>
                    </a:ext>
                  </a:extLst>
                </a:hlinkClick>
              </a:rPr>
              <a:t>more</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32">
                  <a:extLst>
                    <a:ext uri="{A12FA001-AC4F-418D-AE19-62706E023703}">
                      <ahyp:hlinkClr val="tx"/>
                    </a:ext>
                  </a:extLst>
                </a:hlinkClick>
              </a:rPr>
              <a:t>more</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33">
                  <a:extLst>
                    <a:ext uri="{A12FA001-AC4F-418D-AE19-62706E023703}">
                      <ahyp:hlinkClr val="tx"/>
                    </a:ext>
                  </a:extLst>
                </a:hlinkClick>
              </a:rPr>
              <a:t>more</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34">
                  <a:extLst>
                    <a:ext uri="{A12FA001-AC4F-418D-AE19-62706E023703}">
                      <ahyp:hlinkClr val="tx"/>
                    </a:ext>
                  </a:extLst>
                </a:hlinkClick>
              </a:rPr>
              <a:t>m</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35">
                  <a:extLst>
                    <a:ext uri="{A12FA001-AC4F-418D-AE19-62706E023703}">
                      <ahyp:hlinkClr val="tx"/>
                    </a:ext>
                  </a:extLst>
                </a:hlinkClick>
              </a:rPr>
              <a:t>m</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36">
                  <a:extLst>
                    <a:ext uri="{A12FA001-AC4F-418D-AE19-62706E023703}">
                      <ahyp:hlinkClr val="tx"/>
                    </a:ext>
                  </a:extLst>
                </a:hlinkClick>
              </a:rPr>
              <a:t>m</a:t>
            </a:r>
            <a:r>
              <a:rPr lang="en">
                <a:solidFill>
                  <a:schemeClr val="dk2"/>
                </a:solidFill>
                <a:latin typeface="Open Sans"/>
                <a:ea typeface="Open Sans"/>
                <a:cs typeface="Open Sans"/>
                <a:sym typeface="Open Sans"/>
              </a:rPr>
              <a:t>, </a:t>
            </a:r>
            <a:r>
              <a:rPr lang="en" u="sng">
                <a:solidFill>
                  <a:schemeClr val="accent5"/>
                </a:solidFill>
                <a:latin typeface="Open Sans"/>
                <a:ea typeface="Open Sans"/>
                <a:cs typeface="Open Sans"/>
                <a:sym typeface="Open Sans"/>
                <a:hlinkClick r:id="rId37">
                  <a:extLst>
                    <a:ext uri="{A12FA001-AC4F-418D-AE19-62706E023703}">
                      <ahyp:hlinkClr val="tx"/>
                    </a:ext>
                  </a:extLst>
                </a:hlinkClick>
              </a:rPr>
              <a:t>m</a:t>
            </a:r>
            <a:endParaRPr>
              <a:solidFill>
                <a:schemeClr val="dk2"/>
              </a:solidFill>
              <a:latin typeface="Open Sans"/>
              <a:ea typeface="Open Sans"/>
              <a:cs typeface="Open Sans"/>
              <a:sym typeface="Open Sans"/>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Robust</a:t>
            </a:r>
            <a:endParaRPr>
              <a:solidFill>
                <a:schemeClr val="dk2"/>
              </a:solidFill>
            </a:endParaRPr>
          </a:p>
          <a:p>
            <a:pPr indent="-317500" lvl="0" marL="457200" rtl="0" algn="l">
              <a:lnSpc>
                <a:spcPct val="115000"/>
              </a:lnSpc>
              <a:spcBef>
                <a:spcPts val="0"/>
              </a:spcBef>
              <a:spcAft>
                <a:spcPts val="0"/>
              </a:spcAft>
              <a:buClr>
                <a:schemeClr val="dk2"/>
              </a:buClr>
              <a:buSzPts val="1400"/>
              <a:buChar char="●"/>
            </a:pPr>
            <a:r>
              <a:rPr lang="en">
                <a:solidFill>
                  <a:schemeClr val="dk2"/>
                </a:solidFill>
              </a:rPr>
              <a:t>Robust</a:t>
            </a:r>
            <a:endParaRPr>
              <a:solidFill>
                <a:schemeClr val="dk2"/>
              </a:solidFill>
            </a:endParaRPr>
          </a:p>
          <a:p>
            <a:pPr indent="0" lvl="0" marL="457200" rtl="0" algn="l">
              <a:lnSpc>
                <a:spcPct val="115000"/>
              </a:lnSpc>
              <a:spcBef>
                <a:spcPts val="1600"/>
              </a:spcBef>
              <a:spcAft>
                <a:spcPts val="1600"/>
              </a:spcAft>
              <a:buNone/>
            </a:pPr>
            <a:r>
              <a:t/>
            </a:r>
            <a:endParaRPr>
              <a:solidFill>
                <a:schemeClr val="dk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animEffect filter="fade" transition="in">
                                      <p:cBhvr>
                                        <p:cTn dur="1000"/>
                                        <p:tgtEl>
                                          <p:spTgt spid="1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0" st="0"/>
                                            </p:txEl>
                                          </p:spTgt>
                                        </p:tgtEl>
                                        <p:attrNameLst>
                                          <p:attrName>style.visibility</p:attrName>
                                        </p:attrNameLst>
                                      </p:cBhvr>
                                      <p:to>
                                        <p:strVal val="visible"/>
                                      </p:to>
                                    </p:set>
                                    <p:animEffect filter="fade" transition="in">
                                      <p:cBhvr>
                                        <p:cTn dur="1000"/>
                                        <p:tgtEl>
                                          <p:spTgt spid="1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1" st="1"/>
                                            </p:txEl>
                                          </p:spTgt>
                                        </p:tgtEl>
                                        <p:attrNameLst>
                                          <p:attrName>style.visibility</p:attrName>
                                        </p:attrNameLst>
                                      </p:cBhvr>
                                      <p:to>
                                        <p:strVal val="visible"/>
                                      </p:to>
                                    </p:set>
                                    <p:animEffect filter="fade" transition="in">
                                      <p:cBhvr>
                                        <p:cTn dur="1000"/>
                                        <p:tgtEl>
                                          <p:spTgt spid="1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2" st="2"/>
                                            </p:txEl>
                                          </p:spTgt>
                                        </p:tgtEl>
                                        <p:attrNameLst>
                                          <p:attrName>style.visibility</p:attrName>
                                        </p:attrNameLst>
                                      </p:cBhvr>
                                      <p:to>
                                        <p:strVal val="visible"/>
                                      </p:to>
                                    </p:set>
                                    <p:animEffect filter="fade" transition="in">
                                      <p:cBhvr>
                                        <p:cTn dur="1000"/>
                                        <p:tgtEl>
                                          <p:spTgt spid="1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3" st="3"/>
                                            </p:txEl>
                                          </p:spTgt>
                                        </p:tgtEl>
                                        <p:attrNameLst>
                                          <p:attrName>style.visibility</p:attrName>
                                        </p:attrNameLst>
                                      </p:cBhvr>
                                      <p:to>
                                        <p:strVal val="visible"/>
                                      </p:to>
                                    </p:set>
                                    <p:animEffect filter="fade" transition="in">
                                      <p:cBhvr>
                                        <p:cTn dur="1000"/>
                                        <p:tgtEl>
                                          <p:spTgt spid="1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4" st="4"/>
                                            </p:txEl>
                                          </p:spTgt>
                                        </p:tgtEl>
                                        <p:attrNameLst>
                                          <p:attrName>style.visibility</p:attrName>
                                        </p:attrNameLst>
                                      </p:cBhvr>
                                      <p:to>
                                        <p:strVal val="visible"/>
                                      </p:to>
                                    </p:set>
                                    <p:animEffect filter="fade" transition="in">
                                      <p:cBhvr>
                                        <p:cTn dur="1000"/>
                                        <p:tgtEl>
                                          <p:spTgt spid="1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5" st="5"/>
                                            </p:txEl>
                                          </p:spTgt>
                                        </p:tgtEl>
                                        <p:attrNameLst>
                                          <p:attrName>style.visibility</p:attrName>
                                        </p:attrNameLst>
                                      </p:cBhvr>
                                      <p:to>
                                        <p:strVal val="visible"/>
                                      </p:to>
                                    </p:set>
                                    <p:animEffect filter="fade" transition="in">
                                      <p:cBhvr>
                                        <p:cTn dur="1000"/>
                                        <p:tgtEl>
                                          <p:spTgt spid="1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6" st="6"/>
                                            </p:txEl>
                                          </p:spTgt>
                                        </p:tgtEl>
                                        <p:attrNameLst>
                                          <p:attrName>style.visibility</p:attrName>
                                        </p:attrNameLst>
                                      </p:cBhvr>
                                      <p:to>
                                        <p:strVal val="visible"/>
                                      </p:to>
                                    </p:set>
                                    <p:animEffect filter="fade" transition="in">
                                      <p:cBhvr>
                                        <p:cTn dur="1000"/>
                                        <p:tgtEl>
                                          <p:spTgt spid="1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7" st="7"/>
                                            </p:txEl>
                                          </p:spTgt>
                                        </p:tgtEl>
                                        <p:attrNameLst>
                                          <p:attrName>style.visibility</p:attrName>
                                        </p:attrNameLst>
                                      </p:cBhvr>
                                      <p:to>
                                        <p:strVal val="visible"/>
                                      </p:to>
                                    </p:set>
                                    <p:animEffect filter="fade" transition="in">
                                      <p:cBhvr>
                                        <p:cTn dur="1000"/>
                                        <p:tgtEl>
                                          <p:spTgt spid="1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8" st="8"/>
                                            </p:txEl>
                                          </p:spTgt>
                                        </p:tgtEl>
                                        <p:attrNameLst>
                                          <p:attrName>style.visibility</p:attrName>
                                        </p:attrNameLst>
                                      </p:cBhvr>
                                      <p:to>
                                        <p:strVal val="visible"/>
                                      </p:to>
                                    </p:set>
                                    <p:animEffect filter="fade" transition="in">
                                      <p:cBhvr>
                                        <p:cTn dur="1000"/>
                                        <p:tgtEl>
                                          <p:spTgt spid="16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xEl>
                                              <p:pRg end="9" st="9"/>
                                            </p:txEl>
                                          </p:spTgt>
                                        </p:tgtEl>
                                        <p:attrNameLst>
                                          <p:attrName>style.visibility</p:attrName>
                                        </p:attrNameLst>
                                      </p:cBhvr>
                                      <p:to>
                                        <p:strVal val="visible"/>
                                      </p:to>
                                    </p:set>
                                    <p:animEffect filter="fade" transition="in">
                                      <p:cBhvr>
                                        <p:cTn dur="1000"/>
                                        <p:tgtEl>
                                          <p:spTgt spid="165">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